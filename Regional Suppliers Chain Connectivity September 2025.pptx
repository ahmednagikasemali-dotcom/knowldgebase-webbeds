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81" r:id="rId6"/>
    <p:sldMasterId id="2147483684" r:id="rId7"/>
  </p:sldMasterIdLst>
  <p:notesMasterIdLst>
    <p:notesMasterId r:id="rId13"/>
  </p:notesMasterIdLst>
  <p:sldIdLst>
    <p:sldId id="2147471081" r:id="rId8"/>
    <p:sldId id="269" r:id="rId9"/>
    <p:sldId id="275" r:id="rId10"/>
    <p:sldId id="271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elia Rojas" initials="CR" lastIdx="1" clrIdx="0">
    <p:extLst>
      <p:ext uri="{19B8F6BF-5375-455C-9EA6-DF929625EA0E}">
        <p15:presenceInfo xmlns:p15="http://schemas.microsoft.com/office/powerpoint/2012/main" userId="S::celia.rojas@Webbeds.com::3acd3737-2c17-41af-854f-3b49cce380a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140A"/>
    <a:srgbClr val="575756"/>
    <a:srgbClr val="E63622"/>
    <a:srgbClr val="FF3622"/>
    <a:srgbClr val="FFFFFF"/>
    <a:srgbClr val="B2B2B2"/>
    <a:srgbClr val="DADADA"/>
    <a:srgbClr val="878787"/>
    <a:srgbClr val="DC14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Nagy" userId="fa9e2982-9ff4-4daf-89bc-4f94628a3e79" providerId="ADAL" clId="{AD856700-E072-4D75-9F97-6C3AC6611F21}"/>
    <pc:docChg chg="undo custSel modSld">
      <pc:chgData name="Ahmed Nagy" userId="fa9e2982-9ff4-4daf-89bc-4f94628a3e79" providerId="ADAL" clId="{AD856700-E072-4D75-9F97-6C3AC6611F21}" dt="2026-01-17T23:07:12.125" v="5" actId="1076"/>
      <pc:docMkLst>
        <pc:docMk/>
      </pc:docMkLst>
      <pc:sldChg chg="modSp mod">
        <pc:chgData name="Ahmed Nagy" userId="fa9e2982-9ff4-4daf-89bc-4f94628a3e79" providerId="ADAL" clId="{AD856700-E072-4D75-9F97-6C3AC6611F21}" dt="2026-01-17T22:35:07.580" v="2" actId="1076"/>
        <pc:sldMkLst>
          <pc:docMk/>
          <pc:sldMk cId="0" sldId="269"/>
        </pc:sldMkLst>
        <pc:spChg chg="mod">
          <ac:chgData name="Ahmed Nagy" userId="fa9e2982-9ff4-4daf-89bc-4f94628a3e79" providerId="ADAL" clId="{AD856700-E072-4D75-9F97-6C3AC6611F21}" dt="2026-01-17T22:35:07.580" v="2" actId="1076"/>
          <ac:spMkLst>
            <pc:docMk/>
            <pc:sldMk cId="0" sldId="269"/>
            <ac:spMk id="279" creationId="{00000000-0000-0000-0000-000000000000}"/>
          </ac:spMkLst>
        </pc:spChg>
        <pc:picChg chg="mod">
          <ac:chgData name="Ahmed Nagy" userId="fa9e2982-9ff4-4daf-89bc-4f94628a3e79" providerId="ADAL" clId="{AD856700-E072-4D75-9F97-6C3AC6611F21}" dt="2026-01-17T22:35:01.723" v="1" actId="1076"/>
          <ac:picMkLst>
            <pc:docMk/>
            <pc:sldMk cId="0" sldId="269"/>
            <ac:picMk id="26" creationId="{58EE1B3C-AE38-487D-8272-388436D58D7A}"/>
          </ac:picMkLst>
        </pc:picChg>
      </pc:sldChg>
      <pc:sldChg chg="modSp mod">
        <pc:chgData name="Ahmed Nagy" userId="fa9e2982-9ff4-4daf-89bc-4f94628a3e79" providerId="ADAL" clId="{AD856700-E072-4D75-9F97-6C3AC6611F21}" dt="2026-01-17T23:07:12.125" v="5" actId="1076"/>
        <pc:sldMkLst>
          <pc:docMk/>
          <pc:sldMk cId="3974006793" sldId="272"/>
        </pc:sldMkLst>
        <pc:spChg chg="mod">
          <ac:chgData name="Ahmed Nagy" userId="fa9e2982-9ff4-4daf-89bc-4f94628a3e79" providerId="ADAL" clId="{AD856700-E072-4D75-9F97-6C3AC6611F21}" dt="2026-01-17T23:07:12.125" v="5" actId="1076"/>
          <ac:spMkLst>
            <pc:docMk/>
            <pc:sldMk cId="3974006793" sldId="272"/>
            <ac:spMk id="261" creationId="{00000000-0000-0000-0000-000000000000}"/>
          </ac:spMkLst>
        </pc:spChg>
      </pc:sldChg>
      <pc:sldChg chg="modSp mod">
        <pc:chgData name="Ahmed Nagy" userId="fa9e2982-9ff4-4daf-89bc-4f94628a3e79" providerId="ADAL" clId="{AD856700-E072-4D75-9F97-6C3AC6611F21}" dt="2026-01-17T22:50:15.750" v="4" actId="1076"/>
        <pc:sldMkLst>
          <pc:docMk/>
          <pc:sldMk cId="3338919249" sldId="275"/>
        </pc:sldMkLst>
        <pc:spChg chg="mod">
          <ac:chgData name="Ahmed Nagy" userId="fa9e2982-9ff4-4daf-89bc-4f94628a3e79" providerId="ADAL" clId="{AD856700-E072-4D75-9F97-6C3AC6611F21}" dt="2026-01-17T22:50:15.750" v="4" actId="1076"/>
          <ac:spMkLst>
            <pc:docMk/>
            <pc:sldMk cId="3338919249" sldId="275"/>
            <ac:spMk id="26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DAD74-0E66-44CB-B062-35CA057739D1}" type="datetimeFigureOut">
              <a:rPr lang="pt-PT" smtClean="0"/>
              <a:t>18/01/2026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FC8BF-14A0-4946-8F29-4F1D35A1FB3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83518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481e848f0c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481e848f0c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481e848f0c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481e848f0c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6803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481e848f0c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481e848f0c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6779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481e848f0c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481e848f0c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988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825" y="1889125"/>
            <a:ext cx="10515600" cy="530225"/>
          </a:xfrm>
          <a:prstGeom prst="rect">
            <a:avLst/>
          </a:prstGeom>
        </p:spPr>
        <p:txBody>
          <a:bodyPr/>
          <a:lstStyle>
            <a:lvl1pPr>
              <a:defRPr sz="3200" baseline="0">
                <a:solidFill>
                  <a:srgbClr val="DC140A"/>
                </a:solidFill>
                <a:latin typeface="Montserrat Medium" panose="00000600000000000000" pitchFamily="50" charset="0"/>
              </a:defRPr>
            </a:lvl1pPr>
          </a:lstStyle>
          <a:p>
            <a:r>
              <a:rPr lang="en-US"/>
              <a:t>Document heading here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2925" y="2544763"/>
            <a:ext cx="5162550" cy="3603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878787"/>
                </a:solidFill>
                <a:latin typeface="Montserrat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09 / 07 / 2018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394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 userDrawn="1"/>
        </p:nvSpPr>
        <p:spPr>
          <a:xfrm>
            <a:off x="554253" y="1889124"/>
            <a:ext cx="10515600" cy="5302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baseline="0">
                <a:solidFill>
                  <a:srgbClr val="DC140A"/>
                </a:solidFill>
                <a:latin typeface="Montserrat Medium" panose="00000600000000000000" pitchFamily="50" charset="0"/>
                <a:ea typeface="+mj-ea"/>
                <a:cs typeface="+mj-cs"/>
              </a:defRPr>
            </a:lvl1pPr>
          </a:lstStyle>
          <a:p>
            <a:r>
              <a:rPr lang="en-US" sz="3400">
                <a:latin typeface="+mn-lt"/>
              </a:rPr>
              <a:t>Thank you!</a:t>
            </a:r>
            <a:endParaRPr lang="en-GB" sz="34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151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1. WebBeds - Title WebBeds Image Sw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A00E7C-717F-4F6F-CD49-A36ECEE56A56}"/>
              </a:ext>
            </a:extLst>
          </p:cNvPr>
          <p:cNvSpPr/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6D35C3-30E0-4FF8-B5C3-0651247144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0000"/>
          </a:blip>
          <a:srcRect b="14028"/>
          <a:stretch/>
        </p:blipFill>
        <p:spPr>
          <a:xfrm>
            <a:off x="0" y="962025"/>
            <a:ext cx="12192000" cy="589597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2A77F-AE1A-42EE-A724-939882E9E11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30675" y="3573813"/>
            <a:ext cx="10074381" cy="1158208"/>
          </a:xfrm>
          <a:prstGeom prst="rect">
            <a:avLst/>
          </a:prstGeom>
          <a:effectLst/>
        </p:spPr>
        <p:txBody>
          <a:bodyPr lIns="36000"/>
          <a:lstStyle>
            <a:lvl1pPr marL="0" indent="0">
              <a:lnSpc>
                <a:spcPts val="9000"/>
              </a:lnSpc>
              <a:spcBef>
                <a:spcPts val="0"/>
              </a:spcBef>
              <a:buNone/>
              <a:defRPr sz="8800" b="1" spc="-150" baseline="0">
                <a:solidFill>
                  <a:schemeClr val="bg1"/>
                </a:solidFill>
                <a:effectLst/>
                <a:latin typeface="Montserrat" panose="00000500000000000000" pitchFamily="50" charset="0"/>
              </a:defRPr>
            </a:lvl1pPr>
            <a:lvl2pPr>
              <a:defRPr sz="8800" b="1">
                <a:solidFill>
                  <a:schemeClr val="bg1"/>
                </a:solidFill>
                <a:latin typeface="Montserrat" panose="00000500000000000000" pitchFamily="50" charset="0"/>
              </a:defRPr>
            </a:lvl2pPr>
            <a:lvl3pPr>
              <a:defRPr sz="8800" b="1">
                <a:solidFill>
                  <a:schemeClr val="bg1"/>
                </a:solidFill>
                <a:latin typeface="Montserrat" panose="00000500000000000000" pitchFamily="50" charset="0"/>
              </a:defRPr>
            </a:lvl3pPr>
            <a:lvl4pPr>
              <a:defRPr sz="8800" b="1">
                <a:solidFill>
                  <a:schemeClr val="bg1"/>
                </a:solidFill>
                <a:latin typeface="Montserrat" panose="00000500000000000000" pitchFamily="50" charset="0"/>
              </a:defRPr>
            </a:lvl4pPr>
            <a:lvl5pPr>
              <a:defRPr sz="8800" b="1">
                <a:solidFill>
                  <a:schemeClr val="bg1"/>
                </a:solidFill>
                <a:latin typeface="Montserrat" panose="00000500000000000000" pitchFamily="50" charset="0"/>
              </a:defRPr>
            </a:lvl5pPr>
          </a:lstStyle>
          <a:p>
            <a:pPr lvl="0"/>
            <a:r>
              <a:rPr lang="en-US"/>
              <a:t>Presenter Name.</a:t>
            </a:r>
            <a:endParaRPr lang="en-AU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FD43D57-4E84-4D05-A517-9B062CC1669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30675" y="2841542"/>
            <a:ext cx="10074381" cy="618531"/>
          </a:xfrm>
          <a:prstGeom prst="rect">
            <a:avLst/>
          </a:prstGeom>
          <a:effectLst/>
        </p:spPr>
        <p:txBody>
          <a:bodyPr anchor="b">
            <a:normAutofit/>
          </a:bodyPr>
          <a:lstStyle>
            <a:lvl1pPr algn="l">
              <a:defRPr lang="en-AU" sz="2400" b="1" kern="1200" spc="-100" baseline="0" dirty="0">
                <a:solidFill>
                  <a:schemeClr val="bg1"/>
                </a:solidFill>
                <a:latin typeface="Montserrat" panose="00000500000000000000" pitchFamily="50" charset="0"/>
                <a:ea typeface="+mj-ea"/>
                <a:cs typeface="+mj-cs"/>
              </a:defRPr>
            </a:lvl1pPr>
          </a:lstStyle>
          <a:p>
            <a:pPr marL="36000" lvl="0" algn="l" defTabSz="495285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Title | Company</a:t>
            </a:r>
            <a:endParaRPr lang="en-AU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50CC078-6306-4DBB-B208-EF3A89873EB4}"/>
              </a:ext>
            </a:extLst>
          </p:cNvPr>
          <p:cNvSpPr>
            <a:spLocks noGrp="1"/>
          </p:cNvSpPr>
          <p:nvPr userDrawn="1">
            <p:ph type="body" idx="10" hasCustomPrompt="1"/>
          </p:nvPr>
        </p:nvSpPr>
        <p:spPr>
          <a:xfrm>
            <a:off x="930675" y="4826318"/>
            <a:ext cx="10074381" cy="517207"/>
          </a:xfrm>
          <a:prstGeom prst="rect">
            <a:avLst/>
          </a:prstGeom>
          <a:effectLst/>
        </p:spPr>
        <p:txBody>
          <a:bodyPr anchor="t"/>
          <a:lstStyle>
            <a:lvl1pPr marL="36000" indent="0" algn="l">
              <a:buNone/>
              <a:defRPr lang="en-US" sz="2200" b="1" kern="1200" spc="-50" baseline="0" dirty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378900" lvl="0" indent="-342900" algn="l" defTabSz="495285" rtl="0" eaLnBrk="1" latinLnBrk="0" hangingPunct="1">
              <a:lnSpc>
                <a:spcPct val="100000"/>
              </a:lnSpc>
              <a:spcBef>
                <a:spcPct val="20000"/>
              </a:spcBef>
              <a:buFont typeface="Arial"/>
              <a:buNone/>
            </a:pPr>
            <a:r>
              <a:rPr lang="en-US"/>
              <a:t>Event , Subject or Partner Name</a:t>
            </a:r>
          </a:p>
        </p:txBody>
      </p:sp>
      <p:pic>
        <p:nvPicPr>
          <p:cNvPr id="13" name="Picture 12" descr="Shape&#10;&#10;Description automatically generated">
            <a:extLst>
              <a:ext uri="{FF2B5EF4-FFF2-40B4-BE49-F238E27FC236}">
                <a16:creationId xmlns:a16="http://schemas.microsoft.com/office/drawing/2014/main" id="{5FC0DA77-0389-44BB-A4C4-773C90F20B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65032"/>
          <a:stretch/>
        </p:blipFill>
        <p:spPr>
          <a:xfrm>
            <a:off x="0" y="0"/>
            <a:ext cx="12193200" cy="2399090"/>
          </a:xfrm>
          <a:prstGeom prst="rect">
            <a:avLst/>
          </a:prstGeom>
        </p:spPr>
      </p:pic>
      <p:pic>
        <p:nvPicPr>
          <p:cNvPr id="2" name="Picture 1" descr="A picture containing drawing, light&#10;&#10;Description automatically generated">
            <a:extLst>
              <a:ext uri="{FF2B5EF4-FFF2-40B4-BE49-F238E27FC236}">
                <a16:creationId xmlns:a16="http://schemas.microsoft.com/office/drawing/2014/main" id="{9FF077E3-1751-1624-4C19-51993794162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274" y="385000"/>
            <a:ext cx="3009799" cy="94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8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114425" y="1641476"/>
            <a:ext cx="9877425" cy="4921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DD140A"/>
                </a:solidFill>
                <a:latin typeface="Montserrat Medium" panose="00000600000000000000" pitchFamily="50" charset="0"/>
              </a:defRPr>
            </a:lvl1pPr>
          </a:lstStyle>
          <a:p>
            <a:r>
              <a:rPr lang="en-US"/>
              <a:t>Slide title heading</a:t>
            </a:r>
            <a:endParaRPr lang="en-GB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1114425" y="2387600"/>
            <a:ext cx="9877425" cy="400423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800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97949" y="1622854"/>
            <a:ext cx="9877425" cy="4742087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85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14425" y="1641476"/>
            <a:ext cx="9877425" cy="4921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DD140A"/>
                </a:solidFill>
                <a:latin typeface="Montserrat Medium" panose="00000600000000000000" pitchFamily="50" charset="0"/>
              </a:defRPr>
            </a:lvl1pPr>
          </a:lstStyle>
          <a:p>
            <a:r>
              <a:rPr lang="en-US"/>
              <a:t>Slide title heading</a:t>
            </a:r>
            <a:endParaRPr lang="en-GB"/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>
          <a:xfrm>
            <a:off x="1114425" y="2387600"/>
            <a:ext cx="4783867" cy="400423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6207983" y="2387599"/>
            <a:ext cx="4783867" cy="400423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114425" y="1641476"/>
            <a:ext cx="9948989" cy="4921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DD140A"/>
                </a:solidFill>
                <a:latin typeface="Montserrat Medium" panose="00000600000000000000" pitchFamily="50" charset="0"/>
              </a:defRPr>
            </a:lvl1pPr>
          </a:lstStyle>
          <a:p>
            <a:r>
              <a:rPr lang="en-US"/>
              <a:t>Slide title heading</a:t>
            </a:r>
            <a:endParaRPr lang="en-GB"/>
          </a:p>
        </p:txBody>
      </p:sp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1114425" y="2387600"/>
            <a:ext cx="3144537" cy="4013201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0" hasCustomPrompt="1"/>
          </p:nvPr>
        </p:nvSpPr>
        <p:spPr>
          <a:xfrm>
            <a:off x="4520770" y="2387599"/>
            <a:ext cx="3144537" cy="4013201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1" hasCustomPrompt="1"/>
          </p:nvPr>
        </p:nvSpPr>
        <p:spPr>
          <a:xfrm>
            <a:off x="7918877" y="2387599"/>
            <a:ext cx="3144537" cy="4013201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441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114425" y="1641476"/>
            <a:ext cx="9877425" cy="4921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DD140A"/>
                </a:solidFill>
                <a:latin typeface="Montserrat Medium" panose="00000600000000000000" pitchFamily="50" charset="0"/>
              </a:defRPr>
            </a:lvl1pPr>
          </a:lstStyle>
          <a:p>
            <a:r>
              <a:rPr lang="en-US"/>
              <a:t>Slide title heading</a:t>
            </a:r>
            <a:endParaRPr lang="en-GB"/>
          </a:p>
        </p:txBody>
      </p:sp>
      <p:sp>
        <p:nvSpPr>
          <p:cNvPr id="10" name="Content Placeholder 2"/>
          <p:cNvSpPr>
            <a:spLocks noGrp="1"/>
          </p:cNvSpPr>
          <p:nvPr>
            <p:ph idx="17" hasCustomPrompt="1"/>
          </p:nvPr>
        </p:nvSpPr>
        <p:spPr>
          <a:xfrm>
            <a:off x="1114424" y="2366362"/>
            <a:ext cx="2798548" cy="1891874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8" hasCustomPrompt="1"/>
          </p:nvPr>
        </p:nvSpPr>
        <p:spPr>
          <a:xfrm>
            <a:off x="1114424" y="4512726"/>
            <a:ext cx="2798548" cy="1891874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9" hasCustomPrompt="1"/>
          </p:nvPr>
        </p:nvSpPr>
        <p:spPr>
          <a:xfrm>
            <a:off x="4656269" y="2366362"/>
            <a:ext cx="2798548" cy="1891874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Content Placeholder 2"/>
          <p:cNvSpPr>
            <a:spLocks noGrp="1"/>
          </p:cNvSpPr>
          <p:nvPr>
            <p:ph idx="20" hasCustomPrompt="1"/>
          </p:nvPr>
        </p:nvSpPr>
        <p:spPr>
          <a:xfrm>
            <a:off x="4656269" y="4512726"/>
            <a:ext cx="2798548" cy="1891874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21" hasCustomPrompt="1"/>
          </p:nvPr>
        </p:nvSpPr>
        <p:spPr>
          <a:xfrm>
            <a:off x="8198101" y="2366362"/>
            <a:ext cx="2798548" cy="1891874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2" hasCustomPrompt="1"/>
          </p:nvPr>
        </p:nvSpPr>
        <p:spPr>
          <a:xfrm>
            <a:off x="8198101" y="4512726"/>
            <a:ext cx="2798548" cy="1891874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60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114425" y="1641476"/>
            <a:ext cx="9877425" cy="4921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DD140A"/>
                </a:solidFill>
                <a:latin typeface="Montserrat Medium" panose="00000600000000000000" pitchFamily="50" charset="0"/>
              </a:defRPr>
            </a:lvl1pPr>
          </a:lstStyle>
          <a:p>
            <a:r>
              <a:rPr lang="en-US"/>
              <a:t>Slide title heading</a:t>
            </a:r>
            <a:endParaRPr lang="en-GB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1114426" y="2387601"/>
            <a:ext cx="2798548" cy="726302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0" hasCustomPrompt="1"/>
          </p:nvPr>
        </p:nvSpPr>
        <p:spPr>
          <a:xfrm>
            <a:off x="4653863" y="2387601"/>
            <a:ext cx="2798548" cy="726302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1" hasCustomPrompt="1"/>
          </p:nvPr>
        </p:nvSpPr>
        <p:spPr>
          <a:xfrm>
            <a:off x="8193302" y="2387601"/>
            <a:ext cx="2798548" cy="726302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Content Placeholder 2"/>
          <p:cNvSpPr>
            <a:spLocks noGrp="1"/>
          </p:cNvSpPr>
          <p:nvPr>
            <p:ph idx="12" hasCustomPrompt="1"/>
          </p:nvPr>
        </p:nvSpPr>
        <p:spPr>
          <a:xfrm>
            <a:off x="8193302" y="3381229"/>
            <a:ext cx="2798548" cy="30182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653863" y="3382600"/>
            <a:ext cx="2798548" cy="30182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4" hasCustomPrompt="1"/>
          </p:nvPr>
        </p:nvSpPr>
        <p:spPr>
          <a:xfrm>
            <a:off x="1114424" y="3379857"/>
            <a:ext cx="2798548" cy="30182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lvl="0"/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98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114425" y="1641476"/>
            <a:ext cx="9877425" cy="4921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DD140A"/>
                </a:solidFill>
                <a:latin typeface="Montserrat Medium" panose="00000600000000000000" pitchFamily="50" charset="0"/>
              </a:defRPr>
            </a:lvl1pPr>
          </a:lstStyle>
          <a:p>
            <a:r>
              <a:rPr lang="en-US"/>
              <a:t>Slide title heading</a:t>
            </a:r>
            <a:endParaRPr lang="en-GB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1114426" y="2387600"/>
            <a:ext cx="7082223" cy="188856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lvl="0"/>
            <a:endParaRPr lang="en-US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1" hasCustomPrompt="1"/>
          </p:nvPr>
        </p:nvSpPr>
        <p:spPr>
          <a:xfrm>
            <a:off x="8468497" y="2387600"/>
            <a:ext cx="2531591" cy="188856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2" hasCustomPrompt="1"/>
          </p:nvPr>
        </p:nvSpPr>
        <p:spPr>
          <a:xfrm>
            <a:off x="1114426" y="4503270"/>
            <a:ext cx="7082223" cy="188856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468497" y="4503270"/>
            <a:ext cx="2531591" cy="188856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 to go here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03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1114426" y="1641476"/>
            <a:ext cx="7082222" cy="4921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DD140A"/>
                </a:solidFill>
                <a:latin typeface="Montserrat Medium" panose="00000600000000000000" pitchFamily="50" charset="0"/>
              </a:defRPr>
            </a:lvl1pPr>
          </a:lstStyle>
          <a:p>
            <a:r>
              <a:rPr lang="en-US"/>
              <a:t>Slide title heading</a:t>
            </a:r>
            <a:endParaRPr lang="en-GB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1114426" y="2387600"/>
            <a:ext cx="7082223" cy="3995271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1" hasCustomPrompt="1"/>
          </p:nvPr>
        </p:nvSpPr>
        <p:spPr>
          <a:xfrm>
            <a:off x="8468497" y="1646194"/>
            <a:ext cx="2531591" cy="144663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Content Placeholder 2"/>
          <p:cNvSpPr>
            <a:spLocks noGrp="1"/>
          </p:cNvSpPr>
          <p:nvPr>
            <p:ph idx="12" hasCustomPrompt="1"/>
          </p:nvPr>
        </p:nvSpPr>
        <p:spPr>
          <a:xfrm>
            <a:off x="8468496" y="3295699"/>
            <a:ext cx="2531591" cy="144663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468496" y="4936241"/>
            <a:ext cx="2531591" cy="144663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140A"/>
              </a:buClr>
              <a:buSzTx/>
              <a:buFont typeface="Arial" panose="020B0604020202020204" pitchFamily="34" charset="0"/>
              <a:buChar char="•"/>
              <a:tabLst/>
              <a:defRPr sz="1400" baseline="0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/>
              <a:t>Bullet point to go here</a:t>
            </a:r>
          </a:p>
          <a:p>
            <a:pPr lvl="0"/>
            <a:r>
              <a:rPr lang="en-US"/>
              <a:t>Bullet point to go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84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84622" y="2982092"/>
            <a:ext cx="9877425" cy="980305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rgbClr val="DC140A"/>
                </a:solidFill>
                <a:latin typeface="Montserrat Medium" panose="00000600000000000000" pitchFamily="50" charset="0"/>
              </a:defRPr>
            </a:lvl1pPr>
          </a:lstStyle>
          <a:p>
            <a:r>
              <a:rPr lang="en-US"/>
              <a:t>Divider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163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91594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23819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37159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655121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629372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891526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411143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914468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378110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764718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46991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image" Target="../media/image8.jpeg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7.emf"/><Relationship Id="rId4" Type="http://schemas.openxmlformats.org/officeDocument/2006/relationships/slideLayout" Target="../slideLayouts/slideLayout7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70249" y="866774"/>
            <a:ext cx="4031551" cy="7597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06" y="6150292"/>
            <a:ext cx="11180188" cy="61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22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80" r:id="rId2"/>
    <p:sldLayoutId id="214748369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30136" y="209800"/>
            <a:ext cx="2302332" cy="444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34252" y="205678"/>
            <a:ext cx="2302332" cy="4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869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0136" y="209800"/>
            <a:ext cx="2302332" cy="4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766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1098064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mailto:Jessica.Mitchell@webbeds.com" TargetMode="External"/><Relationship Id="rId3" Type="http://schemas.openxmlformats.org/officeDocument/2006/relationships/image" Target="../media/image2.emf"/><Relationship Id="rId7" Type="http://schemas.openxmlformats.org/officeDocument/2006/relationships/hyperlink" Target="mailto:andre.desousa@webbeds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hyperlink" Target="mailto:rosa.miranda@webbeds.com" TargetMode="External"/><Relationship Id="rId5" Type="http://schemas.openxmlformats.org/officeDocument/2006/relationships/hyperlink" Target="mailto:raquel.pinheiro@webbeds.com" TargetMode="External"/><Relationship Id="rId4" Type="http://schemas.openxmlformats.org/officeDocument/2006/relationships/hyperlink" Target="mailto:angela.delpizzo@webbeds.com" TargetMode="External"/><Relationship Id="rId9" Type="http://schemas.openxmlformats.org/officeDocument/2006/relationships/hyperlink" Target="mailto:Tamara.Mantoani@webbeds.com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mailto:Eileen.tok@webbeds.com" TargetMode="External"/><Relationship Id="rId3" Type="http://schemas.openxmlformats.org/officeDocument/2006/relationships/image" Target="../media/image2.emf"/><Relationship Id="rId7" Type="http://schemas.openxmlformats.org/officeDocument/2006/relationships/hyperlink" Target="mailto:zulfi.ikhsan@webbeds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hyperlink" Target="mailto:Vivian.Sung@webbeds.com" TargetMode="External"/><Relationship Id="rId5" Type="http://schemas.openxmlformats.org/officeDocument/2006/relationships/hyperlink" Target="mailto:Eileen.Tok@webbeds.com" TargetMode="External"/><Relationship Id="rId4" Type="http://schemas.openxmlformats.org/officeDocument/2006/relationships/hyperlink" Target="mailto:Lynn.Yip@webbeds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hyperlink" Target="mailto:celia.rojas@webbeds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hyperlink" Target="mailto:marta.lloret@webbeds.com" TargetMode="External"/><Relationship Id="rId5" Type="http://schemas.openxmlformats.org/officeDocument/2006/relationships/hyperlink" Target="mailto:santiago.cusnir@webbeds.com" TargetMode="External"/><Relationship Id="rId4" Type="http://schemas.openxmlformats.org/officeDocument/2006/relationships/hyperlink" Target="mailto:supplieroptimizationeu@webbeds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415C23-382F-43D9-9885-8718251222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67" y="2787429"/>
            <a:ext cx="10074381" cy="1158208"/>
          </a:xfrm>
        </p:spPr>
        <p:txBody>
          <a:bodyPr/>
          <a:lstStyle/>
          <a:p>
            <a:r>
              <a:rPr lang="en-GB" sz="8000" dirty="0"/>
              <a:t>Supplier Connectivity</a:t>
            </a:r>
            <a:r>
              <a:rPr lang="en-GB" sz="8000" dirty="0">
                <a:solidFill>
                  <a:srgbClr val="DC140A"/>
                </a:solidFill>
              </a:rPr>
              <a:t>.</a:t>
            </a:r>
            <a:r>
              <a:rPr lang="en-GB" sz="8000" dirty="0"/>
              <a:t> </a:t>
            </a:r>
          </a:p>
          <a:p>
            <a:endParaRPr lang="en-US" sz="72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12CBEB-D0B6-34F8-4439-B291AEDADD9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8067" y="5219510"/>
            <a:ext cx="10074381" cy="517207"/>
          </a:xfrm>
        </p:spPr>
        <p:txBody>
          <a:bodyPr/>
          <a:lstStyle/>
          <a:p>
            <a:r>
              <a:rPr lang="en-US"/>
              <a:t>September </a:t>
            </a:r>
            <a:r>
              <a:rPr lang="en-US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04780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 txBox="1"/>
          <p:nvPr/>
        </p:nvSpPr>
        <p:spPr>
          <a:xfrm>
            <a:off x="-109298" y="1647640"/>
            <a:ext cx="4386065" cy="18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pt-PT" sz="4250" b="1" kern="0" dirty="0">
                <a:solidFill>
                  <a:srgbClr val="1D1D1D"/>
                </a:solidFill>
                <a:latin typeface="Calibri"/>
                <a:ea typeface="Impact"/>
                <a:cs typeface="Calibri"/>
                <a:sym typeface="Impact"/>
              </a:rPr>
              <a:t>AMERICAS SUPPLIERS</a:t>
            </a:r>
            <a:endParaRPr sz="4250" b="1" kern="0" dirty="0">
              <a:solidFill>
                <a:srgbClr val="1D1D1D"/>
              </a:solidFill>
              <a:latin typeface="Calibri"/>
              <a:ea typeface="Impact"/>
              <a:cs typeface="Calibri"/>
              <a:sym typeface="Impact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4386067" y="0"/>
            <a:ext cx="27556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7141659" y="0"/>
            <a:ext cx="2755600" cy="6858000"/>
          </a:xfrm>
          <a:prstGeom prst="rect">
            <a:avLst/>
          </a:prstGeom>
          <a:solidFill>
            <a:srgbClr val="DADAD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4681067" y="86228"/>
            <a:ext cx="2085600" cy="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b="1" kern="0" dirty="0">
                <a:solidFill>
                  <a:srgbClr val="FFFFFF"/>
                </a:solidFill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  <a:t>3</a:t>
            </a:r>
            <a:r>
              <a:rPr lang="en" sz="1600" b="1" kern="0" baseline="30000" dirty="0">
                <a:solidFill>
                  <a:srgbClr val="FFFFFF"/>
                </a:solidFill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  <a:t>RD</a:t>
            </a:r>
            <a:r>
              <a:rPr lang="en" sz="1600" b="1" kern="0" dirty="0">
                <a:solidFill>
                  <a:srgbClr val="FFFFFF"/>
                </a:solidFill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  <a:t> PARTY</a:t>
            </a:r>
            <a:endParaRPr sz="1600" b="1" kern="0" dirty="0">
              <a:solidFill>
                <a:srgbClr val="FFFFFF"/>
              </a:solidFill>
              <a:latin typeface="Calibri" panose="020F0502020204030204" pitchFamily="34" charset="0"/>
              <a:ea typeface="Montserrat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4590093" y="1380707"/>
            <a:ext cx="2238400" cy="293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 fontAlgn="b">
              <a:buClr>
                <a:srgbClr val="000000"/>
              </a:buClr>
            </a:pPr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Bonotel (JM)</a:t>
            </a:r>
            <a:endParaRPr lang="pt-PT" sz="1200" kern="0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Getaroom (JM)</a:t>
            </a:r>
            <a:endParaRPr lang="pt-PT" sz="1200" kern="0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Hotel Do (TM)</a:t>
            </a:r>
            <a:endParaRPr lang="pt-PT" sz="1200" kern="0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Hotel Trader (JM)</a:t>
            </a:r>
          </a:p>
          <a:p>
            <a:pPr algn="ctr" defTabSz="1219170" fontAlgn="b">
              <a:buClr>
                <a:srgbClr val="000000"/>
              </a:buClr>
            </a:pPr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Kaluah (TM)</a:t>
            </a:r>
          </a:p>
          <a:p>
            <a:pPr algn="ctr" defTabSz="1219170" fontAlgn="b">
              <a:buClr>
                <a:srgbClr val="000000"/>
              </a:buClr>
            </a:pPr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Orinter (TM)</a:t>
            </a:r>
            <a:endParaRPr lang="pt-PT" sz="1200" kern="0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Priceline (JM)</a:t>
            </a:r>
            <a:endParaRPr lang="pt-PT" sz="1200" kern="0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PriceTravel (TM)</a:t>
            </a:r>
          </a:p>
          <a:p>
            <a:pPr algn="ctr" defTabSz="1219170" fontAlgn="b">
              <a:buClr>
                <a:srgbClr val="000000"/>
              </a:buClr>
            </a:pPr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RoomBeast (TM)</a:t>
            </a:r>
          </a:p>
          <a:p>
            <a:pPr algn="ctr" defTabSz="1219170" fontAlgn="b">
              <a:buClr>
                <a:srgbClr val="000000"/>
              </a:buClr>
            </a:pPr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Travel Funders Network (JM)</a:t>
            </a:r>
            <a:endParaRPr lang="pt-PT" sz="1200" kern="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defTabSz="1219170" fontAlgn="b">
              <a:buClr>
                <a:srgbClr val="000000"/>
              </a:buClr>
            </a:pPr>
            <a:endParaRPr lang="pt-PT" sz="1333" kern="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272" name="Google Shape;272;p26"/>
          <p:cNvCxnSpPr>
            <a:cxnSpLocks/>
          </p:cNvCxnSpPr>
          <p:nvPr/>
        </p:nvCxnSpPr>
        <p:spPr>
          <a:xfrm>
            <a:off x="5723867" y="616638"/>
            <a:ext cx="0" cy="781766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26"/>
          <p:cNvSpPr txBox="1"/>
          <p:nvPr/>
        </p:nvSpPr>
        <p:spPr>
          <a:xfrm>
            <a:off x="7476605" y="162409"/>
            <a:ext cx="2085600" cy="2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b="1" kern="0" dirty="0">
                <a:solidFill>
                  <a:srgbClr val="1D1D1D"/>
                </a:solidFill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  <a:t>GLOBAL CHAINS</a:t>
            </a:r>
            <a:endParaRPr sz="1600" b="1" kern="0" dirty="0">
              <a:solidFill>
                <a:srgbClr val="1D1D1D"/>
              </a:solidFill>
              <a:latin typeface="Calibri" panose="020F0502020204030204" pitchFamily="34" charset="0"/>
              <a:ea typeface="Montserrat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7123544" y="778598"/>
            <a:ext cx="2754215" cy="1474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 fontAlgn="b">
              <a:buClr>
                <a:srgbClr val="000000"/>
              </a:buClr>
            </a:pPr>
            <a:r>
              <a:rPr lang="en-GB" sz="1200" dirty="0">
                <a:solidFill>
                  <a:srgbClr val="000000"/>
                </a:solidFill>
                <a:latin typeface="Calibri"/>
                <a:cs typeface="Calibri"/>
              </a:rPr>
              <a:t>Best Western </a:t>
            </a:r>
            <a:r>
              <a:rPr lang="en-GB" sz="1200" b="1" dirty="0">
                <a:solidFill>
                  <a:srgbClr val="000000"/>
                </a:solidFill>
                <a:latin typeface="Calibri"/>
                <a:cs typeface="Calibri"/>
              </a:rPr>
              <a:t>(R)</a:t>
            </a:r>
            <a:endParaRPr lang="en-US" dirty="0"/>
          </a:p>
          <a:p>
            <a:pPr algn="ctr" defTabSz="1219170" fontAlgn="b">
              <a:buClr>
                <a:srgbClr val="000000"/>
              </a:buClr>
            </a:pPr>
            <a:r>
              <a:rPr lang="en-GB" sz="120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Choice Hotels + Radisson Americas </a:t>
            </a:r>
            <a:r>
              <a:rPr lang="en-GB" sz="1200" b="1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(A)</a:t>
            </a:r>
            <a:endParaRPr lang="en-GB" sz="1200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20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Four Seasons </a:t>
            </a:r>
            <a:r>
              <a:rPr lang="en-GB" sz="1200" b="1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(A)</a:t>
            </a:r>
            <a:endParaRPr lang="en-GB" sz="1200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20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Wyndham Hotels + Vienna House </a:t>
            </a:r>
            <a:r>
              <a:rPr lang="en-GB" sz="1200" b="1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(A) </a:t>
            </a:r>
            <a:endParaRPr lang="en-GB" sz="1200" dirty="0">
              <a:solidFill>
                <a:srgbClr val="000000"/>
              </a:solidFill>
              <a:latin typeface="Calibri"/>
              <a:cs typeface="Calibri"/>
              <a:sym typeface="Arial"/>
            </a:endParaRPr>
          </a:p>
          <a:p>
            <a:pPr algn="just" defTabSz="1219170" fontAlgn="b">
              <a:buClr>
                <a:srgbClr val="000000"/>
              </a:buClr>
            </a:pP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just" defTabSz="1219170" fontAlgn="b">
              <a:buClr>
                <a:srgbClr val="000000"/>
              </a:buClr>
            </a:pPr>
            <a:endParaRPr lang="en-GB" sz="1300" dirty="0">
              <a:solidFill>
                <a:srgbClr val="000000"/>
              </a:solidFill>
              <a:latin typeface="Calibri"/>
              <a:cs typeface="Calibri"/>
              <a:sym typeface="Arial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9791624" y="86228"/>
            <a:ext cx="2295954" cy="633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-GB" sz="1200" dirty="0">
                <a:solidFill>
                  <a:srgbClr val="000000"/>
                </a:solidFill>
                <a:latin typeface="Calibri"/>
                <a:cs typeface="Calibri"/>
              </a:rPr>
              <a:t>SABRE Chains: </a:t>
            </a:r>
            <a:r>
              <a:rPr lang="en-GB" sz="1200" b="1" dirty="0">
                <a:solidFill>
                  <a:srgbClr val="000000"/>
                </a:solidFill>
                <a:latin typeface="Calibri"/>
                <a:cs typeface="Calibri"/>
              </a:rPr>
              <a:t>(R)</a:t>
            </a:r>
            <a:endParaRPr lang="en-GB" sz="1000" b="1" dirty="0"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en-GB" sz="1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Alterra Mountain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, </a:t>
            </a:r>
            <a:r>
              <a:rPr lang="en-GB" sz="1000" dirty="0">
                <a:latin typeface="Calibri"/>
                <a:cs typeface="Calibri"/>
                <a:sym typeface="Arial"/>
              </a:rPr>
              <a:t>Aqua Hotels and Resorts, </a:t>
            </a:r>
            <a:r>
              <a:rPr lang="en-GB" sz="1000" dirty="0">
                <a:latin typeface="Calibri"/>
                <a:ea typeface="Calibri"/>
                <a:cs typeface="Calibri"/>
              </a:rPr>
              <a:t>Benchmark Resorts and Hotels, </a:t>
            </a:r>
            <a:r>
              <a:rPr lang="en-GB" sz="1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Blueberry Hospitality, Coral Technology, 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Delaware North, 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</a:rPr>
              <a:t>Denihan Hospitality, </a:t>
            </a:r>
            <a:r>
              <a:rPr lang="en-GB" sz="1000" dirty="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Executive Hotels And Resorts, Grand Beach Hotel Group, Hoteles </a:t>
            </a:r>
            <a:r>
              <a:rPr lang="en-GB" sz="1000" dirty="0" err="1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Estelar</a:t>
            </a:r>
            <a:r>
              <a:rPr lang="en-GB" sz="1000" dirty="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, Karisma Hotels and Resorts, Morgans Hotel Group, Onni Group, Our </a:t>
            </a:r>
            <a:r>
              <a:rPr lang="en-GB" sz="1000" dirty="0" err="1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Habitas</a:t>
            </a:r>
            <a:r>
              <a:rPr lang="en-GB" sz="1000" dirty="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 Hotels, Outrigger Hotels &amp; Resorts, Pacifica Host Hotels, Performance Hospitality, Peregrine Hospitality Group, Pueblo Bonito, </a:t>
            </a:r>
            <a:r>
              <a:rPr lang="en-GB" sz="1000" dirty="0" err="1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Quadrum</a:t>
            </a:r>
            <a:r>
              <a:rPr lang="en-GB" sz="1000" dirty="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 Hospitality, RCD Hotels, Sonesta Collection, Sonesta Franchise, Springboard Hospitality, </a:t>
            </a:r>
            <a:r>
              <a:rPr lang="en-GB" sz="1000" dirty="0" err="1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Staypineapple</a:t>
            </a:r>
            <a:r>
              <a:rPr lang="en-GB" sz="1000" dirty="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 Hotels, The Pod Hotels, Trump Hotel Collection, Viceroy Hotel Group, Westgate Resorts, </a:t>
            </a:r>
            <a:r>
              <a:rPr lang="en-GB" sz="1000" dirty="0" err="1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WorldHotels</a:t>
            </a:r>
            <a:endParaRPr lang="en-GB" sz="800" dirty="0"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en-GB" sz="800" dirty="0"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Only Hotels in Americas Region:</a:t>
            </a:r>
            <a:endParaRPr lang="en-GB" sz="1000" dirty="0">
              <a:highlight>
                <a:srgbClr val="FFFF00"/>
              </a:highlight>
              <a:cs typeface="Arial"/>
            </a:endParaRPr>
          </a:p>
          <a:p>
            <a:pPr algn="ctr" defTabSz="1219170"/>
            <a:r>
              <a:rPr lang="en-GB" sz="1000" dirty="0">
                <a:latin typeface="Calibri"/>
                <a:ea typeface="Calibri"/>
                <a:cs typeface="Calibri"/>
              </a:rPr>
              <a:t>Independent Hotels, Leading Hotels of the World, Preferred Hotel Group, Small Luxury of the World</a:t>
            </a:r>
          </a:p>
          <a:p>
            <a:pPr algn="ctr" defTabSz="1219170"/>
            <a:endParaRPr lang="en-GB" sz="10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defTabSz="1219170"/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Disney Hotels 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(J), 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</a:rPr>
              <a:t>Alterra Mountain 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</a:rPr>
              <a:t>(J), 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</a:rPr>
              <a:t>Atlantis 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</a:rPr>
              <a:t>(N/A), 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Caesars Entertainment 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(J), 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</a:rPr>
              <a:t>Golden Nugget 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</a:rPr>
              <a:t>(J), 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</a:rPr>
              <a:t>Grupo Presidente 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</a:rPr>
              <a:t>(J),</a:t>
            </a:r>
            <a:endParaRPr lang="en-US" sz="10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defTabSz="1219170"/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</a:rPr>
              <a:t>Grupo Posadas 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</a:rPr>
              <a:t>(J), 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</a:rPr>
              <a:t>The Palace Company 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</a:rPr>
              <a:t>(J), 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</a:rPr>
              <a:t>Station Casinos 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</a:rPr>
              <a:t>(J), 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</a:rPr>
              <a:t>Divi Resorts 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</a:rPr>
              <a:t>(J),</a:t>
            </a:r>
            <a:endParaRPr lang="en-GB" sz="10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</a:rPr>
              <a:t>Sandals 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</a:rPr>
              <a:t>(J), 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</a:rPr>
              <a:t>Cosmopolitan Las Vegas 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</a:rPr>
              <a:t>(J), 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Treasure Island 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(J),</a:t>
            </a:r>
            <a:endParaRPr lang="en-GB" sz="10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en-GB" sz="1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Fontainebleau Las Vegas</a:t>
            </a:r>
            <a:r>
              <a:rPr lang="en-GB" sz="1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(J), </a:t>
            </a:r>
            <a:r>
              <a:rPr lang="en-GB" sz="1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Resorts World Las Vegas</a:t>
            </a:r>
            <a:r>
              <a:rPr lang="en-GB" sz="1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(J), 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Universal Hotels 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(J), 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Venetian / Palazzo 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(J), 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Wynn &amp; Encore 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(J), 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Rio Las Vegas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 (J), 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Pacifica Hotels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 (J), 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MGM Resorts 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(J), </a:t>
            </a:r>
            <a:r>
              <a:rPr lang="en-GB" sz="1000" dirty="0" err="1">
                <a:solidFill>
                  <a:srgbClr val="000000"/>
                </a:solidFill>
                <a:latin typeface="Calibri"/>
                <a:cs typeface="Calibri"/>
              </a:rPr>
              <a:t>Omnibees</a:t>
            </a:r>
            <a:r>
              <a:rPr lang="en-GB" sz="1000" dirty="0">
                <a:solidFill>
                  <a:srgbClr val="000000"/>
                </a:solidFill>
                <a:latin typeface="Calibri"/>
                <a:cs typeface="Calibri"/>
              </a:rPr>
              <a:t> </a:t>
            </a:r>
            <a:r>
              <a:rPr lang="en-GB" sz="1000" b="1" dirty="0">
                <a:solidFill>
                  <a:srgbClr val="000000"/>
                </a:solidFill>
                <a:latin typeface="Calibri"/>
                <a:cs typeface="Calibri"/>
              </a:rPr>
              <a:t>(J)</a:t>
            </a:r>
            <a:endParaRPr lang="en-GB" sz="10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8EE1B3C-AE38-487D-8272-388436D58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91" y="226850"/>
            <a:ext cx="3114485" cy="586915"/>
          </a:xfrm>
          <a:prstGeom prst="rect">
            <a:avLst/>
          </a:prstGeom>
        </p:spPr>
      </p:pic>
      <p:sp>
        <p:nvSpPr>
          <p:cNvPr id="31" name="Google Shape;278;p26">
            <a:extLst>
              <a:ext uri="{FF2B5EF4-FFF2-40B4-BE49-F238E27FC236}">
                <a16:creationId xmlns:a16="http://schemas.microsoft.com/office/drawing/2014/main" id="{11A58D01-9566-4AC9-8D72-E556A8C6A8E2}"/>
              </a:ext>
            </a:extLst>
          </p:cNvPr>
          <p:cNvSpPr txBox="1"/>
          <p:nvPr/>
        </p:nvSpPr>
        <p:spPr>
          <a:xfrm>
            <a:off x="9938357" y="131394"/>
            <a:ext cx="2205344" cy="388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/>
            <a:r>
              <a:rPr lang="en" sz="1600" b="1" kern="0" dirty="0">
                <a:solidFill>
                  <a:srgbClr val="1D1D1D"/>
                </a:solidFill>
                <a:latin typeface="Calibri"/>
                <a:ea typeface="Calibri"/>
                <a:cs typeface="Calibri"/>
              </a:rPr>
              <a:t>DIRECT DYNAMIC CONTRACT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88C3F0-10E9-6A51-6745-39BEE3A91F2F}"/>
              </a:ext>
            </a:extLst>
          </p:cNvPr>
          <p:cNvSpPr txBox="1"/>
          <p:nvPr/>
        </p:nvSpPr>
        <p:spPr>
          <a:xfrm>
            <a:off x="-924" y="3211848"/>
            <a:ext cx="4492626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1400" b="1" dirty="0">
              <a:latin typeface="Calibri"/>
              <a:cs typeface="Calibri"/>
            </a:endParaRPr>
          </a:p>
          <a:p>
            <a:endParaRPr lang="en-US" sz="1400" b="1" dirty="0">
              <a:latin typeface="Calibri"/>
              <a:cs typeface="Calibri"/>
            </a:endParaRPr>
          </a:p>
          <a:p>
            <a:r>
              <a:rPr lang="en-US" sz="1400" b="1" dirty="0">
                <a:latin typeface="Calibri"/>
                <a:cs typeface="Calibri"/>
              </a:rPr>
              <a:t>Point of contact</a:t>
            </a:r>
            <a:r>
              <a:rPr lang="en-US" sz="1400" dirty="0">
                <a:latin typeface="Calibri"/>
                <a:cs typeface="Calibri"/>
              </a:rPr>
              <a:t>:</a:t>
            </a:r>
            <a:endParaRPr lang="en-US" dirty="0">
              <a:cs typeface="Arial"/>
            </a:endParaRPr>
          </a:p>
          <a:p>
            <a:r>
              <a:rPr lang="en-US" sz="1400" u="sng" dirty="0">
                <a:latin typeface="Calibri"/>
                <a:cs typeface="Calibri"/>
              </a:rPr>
              <a:t>Global Chains</a:t>
            </a:r>
            <a:endParaRPr lang="en-US" sz="1400" u="sng" dirty="0">
              <a:latin typeface="Calibri"/>
              <a:ea typeface="Calibri"/>
              <a:cs typeface="Calibri"/>
            </a:endParaRPr>
          </a:p>
          <a:p>
            <a:endParaRPr lang="en-US" sz="1400" u="sng" dirty="0">
              <a:latin typeface="Calibri"/>
              <a:cs typeface="Calibri"/>
            </a:endParaRPr>
          </a:p>
          <a:p>
            <a:r>
              <a:rPr lang="en-US" sz="1400" dirty="0">
                <a:latin typeface="Calibri"/>
                <a:cs typeface="Calibri"/>
              </a:rPr>
              <a:t>Connectivity queries: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r>
              <a:rPr lang="en-US" sz="1400" dirty="0">
                <a:latin typeface="Calibri"/>
                <a:cs typeface="Calibri"/>
              </a:rPr>
              <a:t>(A) </a:t>
            </a:r>
            <a:r>
              <a:rPr lang="en-US" sz="1400" dirty="0">
                <a:latin typeface="Calibri"/>
                <a:cs typeface="Calibri"/>
                <a:hlinkClick r:id="rId4"/>
              </a:rPr>
              <a:t>angela.delpizzo@webbeds.com</a:t>
            </a:r>
            <a:endParaRPr lang="en-US" sz="1400" dirty="0">
              <a:latin typeface="Calibri"/>
              <a:cs typeface="Calibri"/>
            </a:endParaRPr>
          </a:p>
          <a:p>
            <a:r>
              <a:rPr lang="en-US" sz="1400" dirty="0">
                <a:latin typeface="Calibri"/>
                <a:cs typeface="Calibri"/>
              </a:rPr>
              <a:t>(J) </a:t>
            </a:r>
            <a:r>
              <a:rPr lang="en-US" sz="1400" dirty="0">
                <a:latin typeface="Calibri"/>
                <a:cs typeface="Calibri"/>
                <a:hlinkClick r:id="rId5"/>
              </a:rPr>
              <a:t>jefferson.guerra@webbeds.com</a:t>
            </a:r>
            <a:endParaRPr lang="en-US" sz="1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/>
                <a:ea typeface="Calibri"/>
                <a:cs typeface="Calibri"/>
              </a:rPr>
              <a:t>(R) </a:t>
            </a:r>
            <a:r>
              <a:rPr lang="en-US" sz="1400" dirty="0">
                <a:latin typeface="Calibri"/>
                <a:ea typeface="Calibri"/>
                <a:cs typeface="Calibri"/>
                <a:hlinkClick r:id="rId6"/>
              </a:rPr>
              <a:t>rosa.miranda@webbeds.com</a:t>
            </a:r>
            <a:endParaRPr lang="en-US" sz="1400" dirty="0">
              <a:latin typeface="Calibri"/>
              <a:cs typeface="Calibri"/>
            </a:endParaRPr>
          </a:p>
          <a:p>
            <a:r>
              <a:rPr lang="en-US" sz="1400" dirty="0">
                <a:latin typeface="Calibri"/>
                <a:cs typeface="Calibri"/>
              </a:rPr>
              <a:t>Escalations </a:t>
            </a:r>
            <a:r>
              <a:rPr lang="en-US" sz="1400" u="sng" dirty="0">
                <a:latin typeface="Calibri"/>
                <a:cs typeface="Calibri"/>
              </a:rPr>
              <a:t>Global Chains</a:t>
            </a:r>
            <a:r>
              <a:rPr lang="en-US" sz="1400" dirty="0">
                <a:latin typeface="Calibri"/>
                <a:cs typeface="Calibri"/>
              </a:rPr>
              <a:t>:</a:t>
            </a:r>
            <a:endParaRPr lang="en-US" sz="14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/>
                <a:cs typeface="Calibri"/>
                <a:hlinkClick r:id="rId7"/>
              </a:rPr>
              <a:t>andre.desousa@webbeds.com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/>
                <a:cs typeface="Calibri"/>
              </a:rPr>
              <a:t>Escalations </a:t>
            </a:r>
            <a:r>
              <a:rPr lang="en-AU" sz="1400" u="sng" dirty="0">
                <a:latin typeface="Calibri"/>
                <a:ea typeface="+mn-lt"/>
                <a:cs typeface="Calibri"/>
              </a:rPr>
              <a:t>3</a:t>
            </a:r>
            <a:r>
              <a:rPr lang="en-AU" sz="1400" u="sng" baseline="30000" dirty="0">
                <a:latin typeface="Calibri"/>
                <a:ea typeface="+mn-lt"/>
                <a:cs typeface="Calibri"/>
              </a:rPr>
              <a:t>rd</a:t>
            </a:r>
            <a:r>
              <a:rPr lang="en-AU" sz="1400" u="sng" dirty="0">
                <a:latin typeface="Calibri"/>
                <a:ea typeface="+mn-lt"/>
                <a:cs typeface="Calibri"/>
              </a:rPr>
              <a:t> Party Suppliers:</a:t>
            </a:r>
          </a:p>
          <a:p>
            <a:r>
              <a:rPr lang="en-AU" sz="1400" dirty="0">
                <a:latin typeface="Calibri"/>
                <a:ea typeface="+mn-lt"/>
                <a:cs typeface="Calibri"/>
              </a:rPr>
              <a:t>(JM) </a:t>
            </a:r>
            <a:r>
              <a:rPr lang="en-AU" sz="1400" dirty="0">
                <a:latin typeface="Calibri"/>
                <a:ea typeface="+mn-lt"/>
                <a:cs typeface="Calibri"/>
                <a:hlinkClick r:id="rId8"/>
              </a:rPr>
              <a:t>Jessica.Mitchell@webbeds.com</a:t>
            </a:r>
            <a:endParaRPr lang="en-AU" sz="1400" dirty="0">
              <a:latin typeface="Calibri"/>
              <a:ea typeface="+mn-lt"/>
              <a:cs typeface="Calibri"/>
            </a:endParaRPr>
          </a:p>
          <a:p>
            <a:r>
              <a:rPr lang="en-AU" sz="1400" dirty="0">
                <a:latin typeface="Calibri"/>
                <a:ea typeface="+mn-lt"/>
                <a:cs typeface="Calibri"/>
              </a:rPr>
              <a:t>(TM) </a:t>
            </a:r>
            <a:r>
              <a:rPr lang="en-AU" sz="1400" dirty="0">
                <a:latin typeface="Calibri"/>
                <a:ea typeface="+mn-lt"/>
                <a:cs typeface="Calibri"/>
                <a:hlinkClick r:id="rId9"/>
              </a:rPr>
              <a:t>Tamara.Mantoani@webbeds.com</a:t>
            </a:r>
            <a:endParaRPr lang="en-AU" sz="1400" dirty="0">
              <a:latin typeface="Calibri"/>
              <a:ea typeface="+mn-lt"/>
              <a:cs typeface="Calibri"/>
            </a:endParaRPr>
          </a:p>
          <a:p>
            <a:endParaRPr lang="en-AU" sz="1400" dirty="0"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  <a:p>
            <a:endParaRPr lang="en-AU" sz="1400" dirty="0"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AF0A0F-027E-EFAA-F5F0-484AD310BF35}"/>
              </a:ext>
            </a:extLst>
          </p:cNvPr>
          <p:cNvSpPr/>
          <p:nvPr/>
        </p:nvSpPr>
        <p:spPr>
          <a:xfrm>
            <a:off x="9917260" y="850392"/>
            <a:ext cx="2226441" cy="3366003"/>
          </a:xfrm>
          <a:prstGeom prst="roundRect">
            <a:avLst/>
          </a:prstGeom>
          <a:noFill/>
          <a:ln>
            <a:solidFill>
              <a:srgbClr val="DD14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 txBox="1"/>
          <p:nvPr/>
        </p:nvSpPr>
        <p:spPr>
          <a:xfrm>
            <a:off x="-241179" y="1459998"/>
            <a:ext cx="4386065" cy="18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pt-PT" sz="4267" b="1" kern="0" dirty="0">
                <a:solidFill>
                  <a:srgbClr val="1D1D1D"/>
                </a:solidFill>
                <a:latin typeface="Calibri" panose="020F0502020204030204" pitchFamily="34" charset="0"/>
                <a:ea typeface="Impact"/>
                <a:cs typeface="Calibri" panose="020F0502020204030204" pitchFamily="34" charset="0"/>
                <a:sym typeface="Impact"/>
              </a:rPr>
              <a:t>APAC </a:t>
            </a:r>
          </a:p>
          <a:p>
            <a:pPr algn="ctr" defTabSz="1219170">
              <a:buClr>
                <a:srgbClr val="000000"/>
              </a:buClr>
            </a:pPr>
            <a:r>
              <a:rPr lang="pt-PT" sz="4267" b="1" kern="0" dirty="0">
                <a:solidFill>
                  <a:srgbClr val="1D1D1D"/>
                </a:solidFill>
                <a:latin typeface="Calibri" panose="020F0502020204030204" pitchFamily="34" charset="0"/>
                <a:ea typeface="Impact"/>
                <a:cs typeface="Calibri" panose="020F0502020204030204" pitchFamily="34" charset="0"/>
                <a:sym typeface="Impact"/>
              </a:rPr>
              <a:t>SUPPLIERS</a:t>
            </a:r>
          </a:p>
        </p:txBody>
      </p:sp>
      <p:sp>
        <p:nvSpPr>
          <p:cNvPr id="264" name="Google Shape;264;p26"/>
          <p:cNvSpPr/>
          <p:nvPr/>
        </p:nvSpPr>
        <p:spPr>
          <a:xfrm>
            <a:off x="4386064" y="0"/>
            <a:ext cx="27556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7230272" y="0"/>
            <a:ext cx="2934948" cy="6858000"/>
          </a:xfrm>
          <a:prstGeom prst="rect">
            <a:avLst/>
          </a:prstGeom>
          <a:solidFill>
            <a:srgbClr val="DADAD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4681067" y="140656"/>
            <a:ext cx="208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b="1" kern="0" dirty="0">
                <a:solidFill>
                  <a:srgbClr val="FFFFFF"/>
                </a:solidFill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  <a:t>3</a:t>
            </a:r>
            <a:r>
              <a:rPr lang="en" sz="1600" b="1" kern="0" baseline="30000" dirty="0">
                <a:solidFill>
                  <a:srgbClr val="FFFFFF"/>
                </a:solidFill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  <a:t>RD</a:t>
            </a:r>
            <a:r>
              <a:rPr lang="en" sz="1600" b="1" kern="0" dirty="0">
                <a:solidFill>
                  <a:srgbClr val="FFFFFF"/>
                </a:solidFill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  <a:t> PARTY</a:t>
            </a:r>
            <a:endParaRPr sz="1600" b="1" kern="0" dirty="0">
              <a:solidFill>
                <a:srgbClr val="FFFFFF"/>
              </a:solidFill>
              <a:latin typeface="Calibri" panose="020F0502020204030204" pitchFamily="34" charset="0"/>
              <a:ea typeface="Montserrat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4598151" y="1708400"/>
            <a:ext cx="223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Agoda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AKU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AKU Ctrip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AOT Group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AsianTrails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Dida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Expedia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Jalan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JTB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KliknBook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MG Holidays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Rakuten</a:t>
            </a: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Tourmind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Travel Boutique (TBO)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Travelbullz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Traveloka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Within Earth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Yanolja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endParaRPr lang="pt-PT" sz="1333" kern="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272" name="Google Shape;272;p26"/>
          <p:cNvCxnSpPr>
            <a:cxnSpLocks/>
          </p:cNvCxnSpPr>
          <p:nvPr/>
        </p:nvCxnSpPr>
        <p:spPr>
          <a:xfrm>
            <a:off x="5723867" y="616638"/>
            <a:ext cx="0" cy="1167469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26"/>
          <p:cNvSpPr txBox="1"/>
          <p:nvPr/>
        </p:nvSpPr>
        <p:spPr>
          <a:xfrm>
            <a:off x="7454833" y="140637"/>
            <a:ext cx="208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b="1" kern="0">
                <a:solidFill>
                  <a:srgbClr val="1D1D1D"/>
                </a:solidFill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  <a:t>CHAINS</a:t>
            </a:r>
            <a:endParaRPr sz="1600" b="1" kern="0">
              <a:solidFill>
                <a:srgbClr val="1D1D1D"/>
              </a:solidFill>
              <a:latin typeface="Calibri" panose="020F0502020204030204" pitchFamily="34" charset="0"/>
              <a:ea typeface="Montserrat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7141664" y="1087911"/>
            <a:ext cx="2840235" cy="159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 fontAlgn="b">
              <a:buClr>
                <a:srgbClr val="000000"/>
              </a:buClr>
            </a:pP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Ascott International </a:t>
            </a:r>
          </a:p>
          <a:p>
            <a:pPr algn="ctr" defTabSz="1219170"/>
            <a:r>
              <a:rPr lang="en-GB" sz="13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Artyzen</a:t>
            </a: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 Hospitality Group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Cinnamon Hotels &amp; Resort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  <a:sym typeface="Arial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Centara</a:t>
            </a: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 Hotels &amp; Resorts </a:t>
            </a:r>
            <a:endParaRPr lang="en-GB" sz="13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*COMO Hotels &amp; Resorts (APAC)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  <a:sym typeface="Arial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Dusit International 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*Frasers Hospitality (APAC)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*Design Hotels (APAC)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  <a:sym typeface="Arial"/>
            </a:endParaRPr>
          </a:p>
          <a:p>
            <a:pPr algn="ctr" defTabSz="1219170"/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*Leading Hotels of the World (APAC)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  <a:sym typeface="Arial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Mandarin Oriental Hotel Group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Oberoi Group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*Okura Nikko Hotel </a:t>
            </a:r>
            <a:r>
              <a:rPr lang="en-GB" sz="13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Mgmt</a:t>
            </a: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 (APAC)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Onyx Hospitality Group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Pan Pacific Hotel Group (PPHG)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Paul John Resorts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  <a:sym typeface="Arial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*Preferred Hotels &amp; Resort (APAC)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The Peninsula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*Rosewood Hotel and Resorts (APAC)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Shangri-la Hotels &amp; Resorts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en-GB" sz="1300" dirty="0">
                <a:latin typeface="Calibri"/>
                <a:ea typeface="Calibri"/>
                <a:cs typeface="Calibri"/>
              </a:rPr>
              <a:t>StayWell Hospitality Group</a:t>
            </a:r>
            <a:endParaRPr lang="en-GB" dirty="0"/>
          </a:p>
          <a:p>
            <a:pPr algn="ctr" defTabSz="1219170" fontAlgn="b">
              <a:buClr>
                <a:srgbClr val="000000"/>
              </a:buClr>
            </a:pP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*St Giles Hotels (APAC)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*Swire Hotels (APAC)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  <a:sym typeface="Arial"/>
            </a:endParaRPr>
          </a:p>
          <a:p>
            <a:pPr algn="ctr" defTabSz="1219170"/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*S Hotels &amp; Resorts (APAC)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  <a:sym typeface="Arial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Taj Group of Hotels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The Leela Palaces Hotels &amp; Resorts 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*The Standard (APAC)</a:t>
            </a:r>
            <a:endParaRPr lang="en-GB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en-GB" sz="13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WelcomHeritage</a:t>
            </a:r>
            <a:r>
              <a:rPr lang="en-GB" sz="1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Hotels</a:t>
            </a:r>
            <a:endParaRPr lang="en-GB" sz="13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cxnSp>
        <p:nvCxnSpPr>
          <p:cNvPr id="277" name="Google Shape;277;p26"/>
          <p:cNvCxnSpPr>
            <a:cxnSpLocks/>
          </p:cNvCxnSpPr>
          <p:nvPr/>
        </p:nvCxnSpPr>
        <p:spPr>
          <a:xfrm>
            <a:off x="8545776" y="570319"/>
            <a:ext cx="26176" cy="581905"/>
          </a:xfrm>
          <a:prstGeom prst="straightConnector1">
            <a:avLst/>
          </a:prstGeom>
          <a:noFill/>
          <a:ln w="9525" cap="flat" cmpd="sng">
            <a:solidFill>
              <a:srgbClr val="1D1D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9" name="Google Shape;279;p26"/>
          <p:cNvSpPr txBox="1"/>
          <p:nvPr/>
        </p:nvSpPr>
        <p:spPr>
          <a:xfrm>
            <a:off x="9734386" y="1713583"/>
            <a:ext cx="22384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1" algn="ctr" defTabSz="1219170" fontAlgn="b">
              <a:buClr>
                <a:srgbClr val="000000"/>
              </a:buClr>
            </a:pPr>
            <a:r>
              <a:rPr lang="en-GB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Marina Bay Sand (MBS)</a:t>
            </a:r>
          </a:p>
          <a:p>
            <a:pPr lvl="1" algn="ctr" defTabSz="1219170" fontAlgn="b">
              <a:buClr>
                <a:srgbClr val="000000"/>
              </a:buClr>
            </a:pPr>
            <a:r>
              <a:rPr lang="en-GB" sz="12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Synxis</a:t>
            </a:r>
            <a:r>
              <a:rPr lang="en-GB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 – Independent Hotels</a:t>
            </a:r>
            <a:endParaRPr lang="en-GB" sz="12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cxnSp>
        <p:nvCxnSpPr>
          <p:cNvPr id="282" name="Google Shape;282;p26"/>
          <p:cNvCxnSpPr>
            <a:cxnSpLocks/>
          </p:cNvCxnSpPr>
          <p:nvPr/>
        </p:nvCxnSpPr>
        <p:spPr>
          <a:xfrm>
            <a:off x="11024700" y="858982"/>
            <a:ext cx="0" cy="925125"/>
          </a:xfrm>
          <a:prstGeom prst="straightConnector1">
            <a:avLst/>
          </a:prstGeom>
          <a:noFill/>
          <a:ln w="9525" cap="flat" cmpd="sng">
            <a:solidFill>
              <a:srgbClr val="1D1D1D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58EE1B3C-AE38-487D-8272-388436D58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90" y="196680"/>
            <a:ext cx="3114485" cy="586915"/>
          </a:xfrm>
          <a:prstGeom prst="rect">
            <a:avLst/>
          </a:prstGeom>
        </p:spPr>
      </p:pic>
      <p:sp>
        <p:nvSpPr>
          <p:cNvPr id="31" name="Google Shape;278;p26">
            <a:extLst>
              <a:ext uri="{FF2B5EF4-FFF2-40B4-BE49-F238E27FC236}">
                <a16:creationId xmlns:a16="http://schemas.microsoft.com/office/drawing/2014/main" id="{11A58D01-9566-4AC9-8D72-E556A8C6A8E2}"/>
              </a:ext>
            </a:extLst>
          </p:cNvPr>
          <p:cNvSpPr txBox="1"/>
          <p:nvPr/>
        </p:nvSpPr>
        <p:spPr>
          <a:xfrm>
            <a:off x="9981900" y="252137"/>
            <a:ext cx="208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b="1" kern="0">
                <a:solidFill>
                  <a:srgbClr val="1D1D1D"/>
                </a:solidFill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  <a:t>DIRECT DYNAMIC CONTRACT</a:t>
            </a:r>
            <a:endParaRPr sz="1600" b="1" kern="0">
              <a:solidFill>
                <a:srgbClr val="1D1D1D"/>
              </a:solidFill>
              <a:latin typeface="Calibri" panose="020F0502020204030204" pitchFamily="34" charset="0"/>
              <a:ea typeface="Montserrat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B99CA-5D2B-6D89-D4EB-7B9526D71549}"/>
              </a:ext>
            </a:extLst>
          </p:cNvPr>
          <p:cNvSpPr txBox="1"/>
          <p:nvPr/>
        </p:nvSpPr>
        <p:spPr>
          <a:xfrm>
            <a:off x="683068" y="3880886"/>
            <a:ext cx="299409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Point of contact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Chains/Direct Dynamic Contract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Lynn.Yip@webbeds.com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Eileen.Tok@webbeds.com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SG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400" b="1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SG" sz="14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SG" sz="1400" b="1" dirty="0">
                <a:latin typeface="Calibri" panose="020F0502020204030204" pitchFamily="34" charset="0"/>
                <a:cs typeface="Calibri" panose="020F0502020204030204" pitchFamily="34" charset="0"/>
              </a:rPr>
              <a:t> party suppliers</a:t>
            </a:r>
          </a:p>
          <a:p>
            <a:r>
              <a:rPr lang="en-SG" sz="1400" dirty="0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Vivian.Sung@webbeds.com</a:t>
            </a:r>
            <a:r>
              <a:rPr lang="en-SG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SG" sz="1400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zulfi.ikhsan@webbeds.com</a:t>
            </a:r>
            <a:r>
              <a:rPr lang="en-SG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SG" sz="1400" dirty="0"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Eileen.tok@webbeds.com</a:t>
            </a:r>
            <a:r>
              <a:rPr lang="en-SG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SG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919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 txBox="1"/>
          <p:nvPr/>
        </p:nvSpPr>
        <p:spPr>
          <a:xfrm>
            <a:off x="-210614" y="815248"/>
            <a:ext cx="4386065" cy="18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pt-PT" sz="4267" b="1" kern="0" dirty="0">
                <a:solidFill>
                  <a:srgbClr val="1D1D1D"/>
                </a:solidFill>
                <a:latin typeface="Calibri" panose="020F0502020204030204" pitchFamily="34" charset="0"/>
                <a:ea typeface="Impact"/>
                <a:cs typeface="Calibri" panose="020F0502020204030204" pitchFamily="34" charset="0"/>
                <a:sym typeface="Impact"/>
              </a:rPr>
              <a:t>EUROPEAN SUPPLIERS</a:t>
            </a:r>
            <a:endParaRPr sz="4267" b="1" kern="0" dirty="0">
              <a:solidFill>
                <a:srgbClr val="1D1D1D"/>
              </a:solidFill>
              <a:latin typeface="Calibri" panose="020F0502020204030204" pitchFamily="34" charset="0"/>
              <a:ea typeface="Impact"/>
              <a:cs typeface="Calibri" panose="020F0502020204030204" pitchFamily="34" charset="0"/>
              <a:sym typeface="Impact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3953411" y="0"/>
            <a:ext cx="2918094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6867060" y="0"/>
            <a:ext cx="2821059" cy="6858000"/>
          </a:xfrm>
          <a:prstGeom prst="rect">
            <a:avLst/>
          </a:prstGeom>
          <a:solidFill>
            <a:srgbClr val="DADAD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 fontAlgn="b">
              <a:buClr>
                <a:srgbClr val="000000"/>
              </a:buClr>
            </a:pPr>
            <a:endParaRPr lang="en-GB" sz="12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4283775" y="89549"/>
            <a:ext cx="208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b="1" kern="0" dirty="0">
                <a:solidFill>
                  <a:srgbClr val="FFFFFF"/>
                </a:solidFill>
                <a:latin typeface="Calibri"/>
                <a:ea typeface="Montserrat"/>
                <a:cs typeface="Calibri"/>
                <a:sym typeface="Montserrat"/>
              </a:rPr>
              <a:t>3</a:t>
            </a:r>
            <a:r>
              <a:rPr lang="en" sz="1600" b="1" kern="0" baseline="30000" dirty="0">
                <a:solidFill>
                  <a:srgbClr val="FFFFFF"/>
                </a:solidFill>
                <a:latin typeface="Calibri"/>
                <a:ea typeface="Montserrat"/>
                <a:cs typeface="Calibri"/>
                <a:sym typeface="Montserrat"/>
              </a:rPr>
              <a:t>RD</a:t>
            </a:r>
            <a:r>
              <a:rPr lang="en" sz="1600" b="1" kern="0">
                <a:solidFill>
                  <a:srgbClr val="FFFFFF"/>
                </a:solidFill>
                <a:latin typeface="Calibri"/>
                <a:ea typeface="Montserrat"/>
                <a:cs typeface="Calibri"/>
                <a:sym typeface="Montserrat"/>
              </a:rPr>
              <a:t> PARTY</a:t>
            </a:r>
          </a:p>
        </p:txBody>
      </p:sp>
      <p:sp>
        <p:nvSpPr>
          <p:cNvPr id="269" name="Google Shape;269;p26"/>
          <p:cNvSpPr txBox="1"/>
          <p:nvPr/>
        </p:nvSpPr>
        <p:spPr>
          <a:xfrm>
            <a:off x="4204310" y="520427"/>
            <a:ext cx="223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endParaRPr lang="pt-PT" sz="1200" kern="0" dirty="0">
              <a:solidFill>
                <a:srgbClr val="FFFFFF"/>
              </a:solidFill>
              <a:latin typeface="Calibri"/>
              <a:cs typeface="Calibri"/>
              <a:sym typeface="Arial"/>
            </a:endParaRPr>
          </a:p>
          <a:p>
            <a:pPr algn="ctr" defTabSz="1219170"/>
            <a:endParaRPr lang="pt-PT" sz="12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Abreu (S)</a:t>
            </a:r>
            <a:endParaRPr lang="pt-PT" sz="1200" kern="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Altura (S)</a:t>
            </a:r>
            <a:endParaRPr lang="pt-PT" sz="1200" kern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Avoris (S)</a:t>
            </a:r>
            <a:endParaRPr lang="pt-PT" sz="1200" kern="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Booking.com (S)</a:t>
            </a:r>
            <a:endParaRPr lang="pt-PT" sz="1200" kern="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Cosmobeds (S)</a:t>
            </a:r>
            <a:endParaRPr lang="pt-PT" sz="1200" kern="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Creole (S)</a:t>
            </a:r>
            <a:endParaRPr lang="pt-PT" sz="1200" kern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Gekko-Infinite Hotels (S)</a:t>
            </a:r>
            <a:endParaRPr lang="pt-PT" sz="1200" kern="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GoGlobal (S)</a:t>
            </a:r>
            <a:endParaRPr lang="pt-PT" sz="1200" kern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</a:rPr>
              <a:t>Guestincoming (S)</a:t>
            </a:r>
            <a:endParaRPr lang="pt-PT" sz="1200" kern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Hotelbeds (S)</a:t>
            </a:r>
            <a:endParaRPr lang="pt-PT" sz="1200" kern="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</a:rPr>
              <a:t>Hpro (S)</a:t>
            </a:r>
            <a:endParaRPr lang="pt-PT" sz="1200" kern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</a:rPr>
              <a:t>HyperGuest (S)</a:t>
            </a:r>
            <a:endParaRPr lang="pt-PT" sz="1200" kern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Italcamel (DMC) (S)</a:t>
            </a:r>
            <a:endParaRPr lang="pt-PT" sz="1200" kern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</a:rPr>
              <a:t>Itravex (S)</a:t>
            </a:r>
            <a:endParaRPr lang="pt-PT" sz="1200" kern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JumboTours (S)</a:t>
            </a:r>
            <a:endParaRPr lang="pt-PT" sz="1200" kern="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Miki Travel (S)</a:t>
            </a:r>
            <a:endParaRPr lang="pt-PT" sz="1200" kern="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MTC Group (S)</a:t>
            </a:r>
            <a:endParaRPr lang="pt-PT" sz="1200" kern="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MTS (S)</a:t>
            </a:r>
            <a:endParaRPr lang="pt-PT" sz="1200" kern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</a:rPr>
              <a:t>Olympia (S)</a:t>
            </a:r>
            <a:endParaRPr lang="pt-PT" sz="1200" kern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Ostrovok (S)</a:t>
            </a:r>
            <a:endParaRPr lang="pt-PT" sz="1200" kern="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Restel (S)</a:t>
            </a:r>
            <a:endParaRPr lang="pt-PT" sz="1200" kern="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Sidetours (S)</a:t>
            </a:r>
            <a:endParaRPr lang="pt-PT" sz="1200" kern="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Smyrooms</a:t>
            </a:r>
            <a:endParaRPr lang="pt-PT" sz="1200" kern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cs typeface="Calibri"/>
                <a:sym typeface="Arial"/>
              </a:rPr>
              <a:t>Travco (S)</a:t>
            </a:r>
            <a:endParaRPr lang="pt-PT" sz="1200" kern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pt-PT" sz="12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W2M (S)</a:t>
            </a:r>
            <a:endParaRPr lang="pt-PT" sz="1200" kern="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endParaRPr lang="pt-PT" sz="1300" kern="0" dirty="0">
              <a:solidFill>
                <a:srgbClr val="000000"/>
              </a:solidFill>
              <a:latin typeface="Calibri"/>
              <a:ea typeface="Calibri"/>
              <a:cs typeface="Calibri"/>
              <a:sym typeface="Arial"/>
            </a:endParaRPr>
          </a:p>
          <a:p>
            <a:pPr algn="ctr" defTabSz="1219170"/>
            <a:endParaRPr lang="pt-PT" sz="1200" kern="0" dirty="0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 fontAlgn="b">
              <a:buClr>
                <a:srgbClr val="000000"/>
              </a:buClr>
            </a:pPr>
            <a:endParaRPr lang="pt-PT" sz="1333" kern="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7231374" y="86562"/>
            <a:ext cx="208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b="1" kern="0">
                <a:solidFill>
                  <a:srgbClr val="1D1D1D"/>
                </a:solidFill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  <a:t>CHAINS</a:t>
            </a:r>
            <a:endParaRPr sz="1600" b="1" kern="0">
              <a:solidFill>
                <a:srgbClr val="1D1D1D"/>
              </a:solidFill>
              <a:latin typeface="Calibri" panose="020F0502020204030204" pitchFamily="34" charset="0"/>
              <a:ea typeface="Montserrat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6989442" y="783595"/>
            <a:ext cx="2523062" cy="3592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endParaRPr lang="en-GB" sz="1200" kern="0" dirty="0">
              <a:latin typeface="Calibri"/>
              <a:ea typeface="Calibri"/>
              <a:cs typeface="Calibri"/>
              <a:sym typeface="Arial"/>
            </a:endParaRPr>
          </a:p>
          <a:p>
            <a:pPr algn="ctr" defTabSz="1219170"/>
            <a:r>
              <a:rPr lang="en-GB" sz="1200" kern="0" dirty="0">
                <a:latin typeface="Calibri"/>
                <a:ea typeface="Calibri"/>
                <a:cs typeface="Calibri"/>
                <a:sym typeface="Arial"/>
              </a:rPr>
              <a:t>ACCOR</a:t>
            </a:r>
            <a:endParaRPr lang="en-GB" sz="1200" kern="0" dirty="0"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en-GB" sz="1200" kern="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H10</a:t>
            </a:r>
          </a:p>
          <a:p>
            <a:pPr algn="ctr" defTabSz="1219170"/>
            <a:r>
              <a:rPr lang="en-GB" sz="1200" kern="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Hilton</a:t>
            </a:r>
            <a:endParaRPr lang="en-GB" sz="1200" kern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en-GB" sz="12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Melia</a:t>
            </a:r>
            <a:endParaRPr lang="en-GB" sz="1200" kern="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en-GB" sz="1200" kern="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Paradores</a:t>
            </a:r>
            <a:endParaRPr lang="en-GB" sz="1200" kern="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en-GB" sz="12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Premier Inn</a:t>
            </a:r>
            <a:endParaRPr lang="en-GB" sz="1200" kern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en-GB" sz="12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Top International </a:t>
            </a:r>
            <a:endParaRPr lang="en-GB" sz="1200" kern="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en-GB" sz="1200" kern="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TUI Robinson (Sabre)</a:t>
            </a:r>
            <a:endParaRPr lang="en-GB" sz="1200" kern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endParaRPr lang="en-GB" sz="1200" kern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77" name="Google Shape;277;p26"/>
          <p:cNvCxnSpPr>
            <a:cxnSpLocks/>
          </p:cNvCxnSpPr>
          <p:nvPr/>
        </p:nvCxnSpPr>
        <p:spPr>
          <a:xfrm>
            <a:off x="8307309" y="502277"/>
            <a:ext cx="0" cy="421550"/>
          </a:xfrm>
          <a:prstGeom prst="straightConnector1">
            <a:avLst/>
          </a:prstGeom>
          <a:noFill/>
          <a:ln w="9525" cap="flat" cmpd="sng">
            <a:solidFill>
              <a:srgbClr val="1D1D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9" name="Google Shape;279;p26"/>
          <p:cNvSpPr txBox="1"/>
          <p:nvPr/>
        </p:nvSpPr>
        <p:spPr>
          <a:xfrm>
            <a:off x="9813183" y="1247346"/>
            <a:ext cx="22384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 fontAlgn="b">
              <a:buClr>
                <a:srgbClr val="000000"/>
              </a:buClr>
            </a:pPr>
            <a:r>
              <a:rPr lang="en-GB" sz="1300" dirty="0">
                <a:solidFill>
                  <a:srgbClr val="000000"/>
                </a:solidFill>
                <a:latin typeface="Calibri"/>
                <a:cs typeface="Calibri"/>
                <a:sym typeface="Arial"/>
              </a:rPr>
              <a:t>SynXis – Independent Hotels</a:t>
            </a:r>
          </a:p>
          <a:p>
            <a:pPr algn="ctr" defTabSz="1219170"/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Corinthia Hotels &amp; Resorts</a:t>
            </a:r>
          </a:p>
          <a:p>
            <a:pPr algn="ctr" defTabSz="1219170"/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Como Hotels &amp; Resorts</a:t>
            </a:r>
          </a:p>
          <a:p>
            <a:pPr algn="ctr" defTabSz="1219170"/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Design Hotels</a:t>
            </a:r>
          </a:p>
          <a:p>
            <a:pPr algn="ctr" defTabSz="1219170"/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De </a:t>
            </a:r>
            <a:r>
              <a:rPr lang="en-GB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Historiske</a:t>
            </a: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 – Historical Hotels</a:t>
            </a: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en-GB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ExperienciaH</a:t>
            </a:r>
            <a:endParaRPr lang="en-GB" sz="12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en-GB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Icerlandair</a:t>
            </a: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 </a:t>
            </a:r>
            <a:r>
              <a:rPr lang="en-GB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Htels</a:t>
            </a:r>
            <a:endParaRPr lang="en-GB" sz="12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Independent Hotels</a:t>
            </a:r>
          </a:p>
          <a:p>
            <a:pPr algn="ctr" defTabSz="1219170"/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Leading Hotels World (EU)</a:t>
            </a: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MacDonald Hotels</a:t>
            </a:r>
          </a:p>
          <a:p>
            <a:pPr algn="ctr" defTabSz="1219170"/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Manz Privacy (</a:t>
            </a:r>
            <a:r>
              <a:rPr lang="en-GB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GlobRes</a:t>
            </a: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)</a:t>
            </a:r>
          </a:p>
          <a:p>
            <a:pPr algn="ctr" defTabSz="1219170"/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NAV-Navarino Services</a:t>
            </a:r>
          </a:p>
          <a:p>
            <a:pPr algn="ctr" defTabSz="1219170"/>
            <a:r>
              <a:rPr lang="en-GB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Onomo</a:t>
            </a: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 Group</a:t>
            </a: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Rocco Forte</a:t>
            </a:r>
          </a:p>
          <a:p>
            <a:pPr algn="ctr" defTabSz="1219170"/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Set Collection</a:t>
            </a:r>
          </a:p>
          <a:p>
            <a:pPr algn="ctr" defTabSz="1219170"/>
            <a:r>
              <a:rPr lang="en-GB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Sokos</a:t>
            </a:r>
            <a:endParaRPr lang="en-GB" sz="12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Thon</a:t>
            </a:r>
          </a:p>
          <a:p>
            <a:pPr algn="ctr" defTabSz="1219170"/>
            <a:r>
              <a:rPr lang="en-GB" sz="1200" dirty="0" err="1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Utell</a:t>
            </a: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Hotels &amp; Resorts</a:t>
            </a:r>
          </a:p>
          <a:p>
            <a:pPr algn="ctr" defTabSz="1219170"/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Verdi Hotels</a:t>
            </a: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endParaRPr lang="en-GB" sz="13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 fontAlgn="b">
              <a:buClr>
                <a:srgbClr val="000000"/>
              </a:buClr>
            </a:pPr>
            <a:endParaRPr lang="en-GB" sz="13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defTabSz="1219170" fontAlgn="b">
              <a:buClr>
                <a:srgbClr val="000000"/>
              </a:buClr>
            </a:pPr>
            <a:endParaRPr lang="en-GB" sz="133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82" name="Google Shape;282;p26"/>
          <p:cNvCxnSpPr>
            <a:cxnSpLocks/>
          </p:cNvCxnSpPr>
          <p:nvPr/>
        </p:nvCxnSpPr>
        <p:spPr>
          <a:xfrm>
            <a:off x="10906115" y="812412"/>
            <a:ext cx="0" cy="433430"/>
          </a:xfrm>
          <a:prstGeom prst="straightConnector1">
            <a:avLst/>
          </a:prstGeom>
          <a:noFill/>
          <a:ln w="9525" cap="flat" cmpd="sng">
            <a:solidFill>
              <a:srgbClr val="1D1D1D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58EE1B3C-AE38-487D-8272-388436D58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77" y="196680"/>
            <a:ext cx="3114485" cy="586915"/>
          </a:xfrm>
          <a:prstGeom prst="rect">
            <a:avLst/>
          </a:prstGeom>
        </p:spPr>
      </p:pic>
      <p:sp>
        <p:nvSpPr>
          <p:cNvPr id="31" name="Google Shape;278;p26">
            <a:extLst>
              <a:ext uri="{FF2B5EF4-FFF2-40B4-BE49-F238E27FC236}">
                <a16:creationId xmlns:a16="http://schemas.microsoft.com/office/drawing/2014/main" id="{11A58D01-9566-4AC9-8D72-E556A8C6A8E2}"/>
              </a:ext>
            </a:extLst>
          </p:cNvPr>
          <p:cNvSpPr txBox="1"/>
          <p:nvPr/>
        </p:nvSpPr>
        <p:spPr>
          <a:xfrm>
            <a:off x="9889583" y="234166"/>
            <a:ext cx="208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b="1" kern="0">
                <a:solidFill>
                  <a:srgbClr val="1D1D1D"/>
                </a:solidFill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  <a:t>DIRECT DYNAMIC CONTRACT</a:t>
            </a:r>
            <a:endParaRPr sz="1600" b="1" kern="0">
              <a:solidFill>
                <a:srgbClr val="1D1D1D"/>
              </a:solidFill>
              <a:latin typeface="Calibri" panose="020F0502020204030204" pitchFamily="34" charset="0"/>
              <a:ea typeface="Montserrat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EFBEA4-2589-1FDA-EC18-9F6A27254674}"/>
              </a:ext>
            </a:extLst>
          </p:cNvPr>
          <p:cNvSpPr txBox="1"/>
          <p:nvPr/>
        </p:nvSpPr>
        <p:spPr>
          <a:xfrm>
            <a:off x="419919" y="2645682"/>
            <a:ext cx="3114576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 u="sng" dirty="0">
                <a:latin typeface="Calibri"/>
                <a:cs typeface="Calibri"/>
              </a:rPr>
              <a:t>First point of contact</a:t>
            </a:r>
            <a:r>
              <a:rPr lang="en-US" sz="1400" u="sng" dirty="0">
                <a:latin typeface="Calibri"/>
                <a:cs typeface="Calibri"/>
              </a:rPr>
              <a:t>:</a:t>
            </a:r>
          </a:p>
          <a:p>
            <a:endParaRPr lang="en-US" sz="1400" dirty="0">
              <a:latin typeface="Calibri"/>
              <a:cs typeface="Calibri"/>
            </a:endParaRPr>
          </a:p>
          <a:p>
            <a:r>
              <a:rPr lang="en-US" sz="1400" b="1" dirty="0">
                <a:latin typeface="Calibri"/>
                <a:cs typeface="Calibri"/>
              </a:rPr>
              <a:t>For Chains:</a:t>
            </a:r>
          </a:p>
          <a:p>
            <a:r>
              <a:rPr lang="en-US" sz="1400" dirty="0">
                <a:solidFill>
                  <a:schemeClr val="accent5"/>
                </a:solidFill>
                <a:latin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supplieroptimizationeu@webbeds.com</a:t>
            </a:r>
          </a:p>
          <a:p>
            <a:endParaRPr lang="en-US" sz="1400" dirty="0">
              <a:latin typeface="Calibri"/>
              <a:cs typeface="Calibri"/>
            </a:endParaRPr>
          </a:p>
          <a:p>
            <a:r>
              <a:rPr lang="en-US" sz="1400" b="1" dirty="0">
                <a:latin typeface="Calibri"/>
                <a:cs typeface="Calibri"/>
              </a:rPr>
              <a:t>For 3rd Party Suppliers:</a:t>
            </a:r>
          </a:p>
          <a:p>
            <a:r>
              <a:rPr lang="en-US" sz="1400" dirty="0">
                <a:latin typeface="Calibri"/>
                <a:cs typeface="Calibri"/>
              </a:rPr>
              <a:t>(S) </a:t>
            </a:r>
            <a:r>
              <a:rPr lang="en-US" sz="1400" dirty="0">
                <a:latin typeface="Calibri"/>
                <a:cs typeface="Calibri"/>
                <a:hlinkClick r:id="rId5"/>
              </a:rPr>
              <a:t>santiago.cusnir@webbeds.com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b="1" u="sng" dirty="0">
                <a:latin typeface="Calibri"/>
                <a:cs typeface="Calibri"/>
              </a:rPr>
              <a:t>Escalation after 1rst Point of contact:</a:t>
            </a:r>
          </a:p>
          <a:p>
            <a:r>
              <a:rPr lang="en-US" sz="1400" dirty="0">
                <a:latin typeface="Calibri"/>
                <a:cs typeface="Calibri"/>
              </a:rPr>
              <a:t>2</a:t>
            </a:r>
            <a:r>
              <a:rPr lang="en-US" sz="1400" baseline="30000" dirty="0">
                <a:latin typeface="Calibri"/>
                <a:cs typeface="Calibri"/>
              </a:rPr>
              <a:t>nd</a:t>
            </a:r>
            <a:r>
              <a:rPr lang="en-US" sz="1400" dirty="0">
                <a:latin typeface="Calibri"/>
                <a:cs typeface="Calibri"/>
                <a:hlinkClick r:id="rId6"/>
              </a:rPr>
              <a:t>marta.lloret@webbeds.com</a:t>
            </a:r>
            <a:endParaRPr lang="en-US" sz="1400" dirty="0">
              <a:latin typeface="Calibri"/>
              <a:cs typeface="Calibri"/>
            </a:endParaRPr>
          </a:p>
          <a:p>
            <a:r>
              <a:rPr lang="en-US" sz="1400" dirty="0">
                <a:latin typeface="Calibri"/>
                <a:cs typeface="Calibri"/>
              </a:rPr>
              <a:t>3</a:t>
            </a:r>
            <a:r>
              <a:rPr lang="en-US" sz="1400" baseline="30000" dirty="0">
                <a:latin typeface="Calibri"/>
                <a:cs typeface="Calibri"/>
              </a:rPr>
              <a:t>rd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  <a:hlinkClick r:id="rId7"/>
              </a:rPr>
              <a:t>celia.rojas@webbeds.com</a:t>
            </a:r>
            <a:endParaRPr lang="en-US" sz="1400" dirty="0">
              <a:latin typeface="Calibri"/>
              <a:cs typeface="Calibri"/>
            </a:endParaRPr>
          </a:p>
          <a:p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SG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545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 txBox="1"/>
          <p:nvPr/>
        </p:nvSpPr>
        <p:spPr>
          <a:xfrm>
            <a:off x="26267" y="1749688"/>
            <a:ext cx="3756074" cy="18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pt-PT" sz="4267" b="1" kern="0" dirty="0">
                <a:solidFill>
                  <a:srgbClr val="1D1D1D"/>
                </a:solidFill>
                <a:latin typeface="Calibri" panose="020F0502020204030204" pitchFamily="34" charset="0"/>
                <a:ea typeface="Impact"/>
                <a:cs typeface="Calibri" panose="020F0502020204030204" pitchFamily="34" charset="0"/>
                <a:sym typeface="Impact"/>
              </a:rPr>
              <a:t>MEA </a:t>
            </a:r>
          </a:p>
          <a:p>
            <a:pPr algn="ctr" defTabSz="1219170">
              <a:buClr>
                <a:srgbClr val="000000"/>
              </a:buClr>
            </a:pPr>
            <a:r>
              <a:rPr lang="pt-PT" sz="4267" b="1" kern="0" dirty="0">
                <a:solidFill>
                  <a:srgbClr val="1D1D1D"/>
                </a:solidFill>
                <a:latin typeface="Calibri" panose="020F0502020204030204" pitchFamily="34" charset="0"/>
                <a:ea typeface="Impact"/>
                <a:cs typeface="Calibri" panose="020F0502020204030204" pitchFamily="34" charset="0"/>
                <a:sym typeface="Impact"/>
              </a:rPr>
              <a:t>SUPPLIERS</a:t>
            </a:r>
            <a:endParaRPr sz="4267" b="1" kern="0" dirty="0">
              <a:solidFill>
                <a:srgbClr val="1D1D1D"/>
              </a:solidFill>
              <a:latin typeface="Calibri" panose="020F0502020204030204" pitchFamily="34" charset="0"/>
              <a:ea typeface="Impact"/>
              <a:cs typeface="Calibri" panose="020F0502020204030204" pitchFamily="34" charset="0"/>
              <a:sym typeface="Impact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4386067" y="0"/>
            <a:ext cx="27556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7156700" y="0"/>
            <a:ext cx="2755600" cy="6858000"/>
          </a:xfrm>
          <a:prstGeom prst="rect">
            <a:avLst/>
          </a:prstGeom>
          <a:solidFill>
            <a:srgbClr val="DADAD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4681067" y="140656"/>
            <a:ext cx="208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b="1" kern="0">
                <a:solidFill>
                  <a:srgbClr val="FFFFFF"/>
                </a:solidFill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  <a:t>3</a:t>
            </a:r>
            <a:r>
              <a:rPr lang="en" sz="1600" b="1" kern="0" baseline="30000">
                <a:solidFill>
                  <a:srgbClr val="FFFFFF"/>
                </a:solidFill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  <a:t>RD</a:t>
            </a:r>
            <a:r>
              <a:rPr lang="en" sz="1600" b="1" kern="0">
                <a:solidFill>
                  <a:srgbClr val="FFFFFF"/>
                </a:solidFill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  <a:t> PARTY</a:t>
            </a:r>
            <a:endParaRPr sz="1600" b="1" kern="0">
              <a:solidFill>
                <a:srgbClr val="FFFFFF"/>
              </a:solidFill>
              <a:latin typeface="Calibri" panose="020F0502020204030204" pitchFamily="34" charset="0"/>
              <a:ea typeface="Montserrat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4604667" y="1856688"/>
            <a:ext cx="2238400" cy="3217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Adonis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Darina Holidays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Egypt Express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ETS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Illusions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Nightsbridge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Nirvana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Paximum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Peakpoint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Prime Travel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Rezlive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Yalago 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Arial"/>
              </a:rPr>
              <a:t>Elevate</a:t>
            </a:r>
            <a:endParaRPr lang="pt-PT" sz="1300" kern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 defTabSz="1219170"/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Safa Online</a:t>
            </a:r>
          </a:p>
          <a:p>
            <a:pPr algn="ctr" defTabSz="1219170" fontAlgn="b">
              <a:buClr>
                <a:srgbClr val="000000"/>
              </a:buClr>
            </a:pPr>
            <a:r>
              <a:rPr lang="pt-PT" sz="1300" kern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Saudi Beds</a:t>
            </a:r>
            <a:endParaRPr lang="pt-PT" sz="1333" kern="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272" name="Google Shape;272;p26"/>
          <p:cNvCxnSpPr>
            <a:cxnSpLocks/>
          </p:cNvCxnSpPr>
          <p:nvPr/>
        </p:nvCxnSpPr>
        <p:spPr>
          <a:xfrm>
            <a:off x="5723867" y="616638"/>
            <a:ext cx="0" cy="1167469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26"/>
          <p:cNvSpPr txBox="1"/>
          <p:nvPr/>
        </p:nvSpPr>
        <p:spPr>
          <a:xfrm>
            <a:off x="7454833" y="140637"/>
            <a:ext cx="208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b="1" kern="0">
                <a:solidFill>
                  <a:srgbClr val="1D1D1D"/>
                </a:solidFill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  <a:t>CHAINS</a:t>
            </a:r>
            <a:endParaRPr sz="1600" b="1" kern="0">
              <a:solidFill>
                <a:srgbClr val="1D1D1D"/>
              </a:solidFill>
              <a:latin typeface="Calibri" panose="020F0502020204030204" pitchFamily="34" charset="0"/>
              <a:ea typeface="Montserrat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7378433" y="1716166"/>
            <a:ext cx="2238400" cy="343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 fontAlgn="b">
              <a:buClr>
                <a:srgbClr val="000000"/>
              </a:buClr>
            </a:pPr>
            <a:r>
              <a:rPr lang="en-GB"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Emaar Hospitality Group</a:t>
            </a:r>
            <a:endParaRPr lang="en-GB" sz="1300">
              <a:solidFill>
                <a:srgbClr val="000000"/>
              </a:solidFill>
              <a:latin typeface="Calibri"/>
              <a:ea typeface="Calibri"/>
              <a:cs typeface="Calibri"/>
              <a:sym typeface="Arial"/>
            </a:endParaRPr>
          </a:p>
          <a:p>
            <a:pPr algn="ctr" defTabSz="1219170"/>
            <a:r>
              <a:rPr lang="en-GB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HMH</a:t>
            </a:r>
            <a:endParaRPr lang="en-GB" sz="1300"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Kempinski International </a:t>
            </a:r>
            <a:endParaRPr lang="en-GB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Kerzner</a:t>
            </a:r>
            <a:endParaRPr lang="en-GB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Jaz Egypt</a:t>
            </a:r>
            <a:endParaRPr lang="en-GB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Jumeirah International </a:t>
            </a:r>
            <a:endParaRPr lang="en-GB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Rotana </a:t>
            </a:r>
            <a:endParaRPr lang="en-GB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Tsogo Sun (Southern Sun)</a:t>
            </a:r>
            <a:endParaRPr lang="en-GB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Address Hotels &amp; Resorts </a:t>
            </a:r>
            <a:endParaRPr lang="en-GB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Jaz </a:t>
            </a:r>
            <a:r>
              <a:rPr lang="en-GB" sz="130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Arial"/>
              </a:rPr>
              <a:t>Crusies</a:t>
            </a:r>
            <a:endParaRPr lang="en-GB" sz="1300">
              <a:solidFill>
                <a:srgbClr val="000000"/>
              </a:solidFill>
              <a:latin typeface="Calibri"/>
              <a:ea typeface="Calibri"/>
              <a:cs typeface="Calibri"/>
              <a:sym typeface="Arial"/>
            </a:endParaRPr>
          </a:p>
          <a:p>
            <a:pPr algn="ctr" defTabSz="1219170" fontAlgn="b">
              <a:buClr>
                <a:srgbClr val="000000"/>
              </a:buClr>
            </a:pPr>
            <a:r>
              <a:rPr lang="en-GB"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Shaza &amp; </a:t>
            </a:r>
            <a:r>
              <a:rPr lang="en-GB" sz="13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Mysk</a:t>
            </a:r>
            <a:r>
              <a:rPr lang="en-GB"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Hotels</a:t>
            </a:r>
            <a:endParaRPr lang="en-GB" sz="1333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1219170"/>
            <a:r>
              <a:rPr lang="en-GB"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Legacy Hotels &amp; Resorts</a:t>
            </a:r>
            <a:endParaRPr lang="en-GB" sz="130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algn="ctr" defTabSz="1219170"/>
            <a:r>
              <a:rPr lang="en-GB"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JA Resorts</a:t>
            </a:r>
          </a:p>
          <a:p>
            <a:pPr algn="ctr" defTabSz="1219170"/>
            <a:r>
              <a:rPr lang="en-GB"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Time Hotels</a:t>
            </a:r>
            <a:endParaRPr lang="en-GB" sz="13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defTabSz="1219170"/>
            <a:endParaRPr lang="en-GB" sz="13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defTabSz="1219170" fontAlgn="b">
              <a:buClr>
                <a:srgbClr val="000000"/>
              </a:buClr>
            </a:pPr>
            <a:endParaRPr lang="en-GB" sz="1333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77" name="Google Shape;277;p26"/>
          <p:cNvCxnSpPr>
            <a:cxnSpLocks/>
            <a:stCxn id="273" idx="2"/>
          </p:cNvCxnSpPr>
          <p:nvPr/>
        </p:nvCxnSpPr>
        <p:spPr>
          <a:xfrm>
            <a:off x="8497633" y="616638"/>
            <a:ext cx="0" cy="1167469"/>
          </a:xfrm>
          <a:prstGeom prst="straightConnector1">
            <a:avLst/>
          </a:prstGeom>
          <a:noFill/>
          <a:ln w="9525" cap="flat" cmpd="sng">
            <a:solidFill>
              <a:srgbClr val="1D1D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9" name="Google Shape;279;p26"/>
          <p:cNvSpPr txBox="1"/>
          <p:nvPr/>
        </p:nvSpPr>
        <p:spPr>
          <a:xfrm>
            <a:off x="9927333" y="1856688"/>
            <a:ext cx="22384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 fontAlgn="b">
              <a:buClr>
                <a:srgbClr val="000000"/>
              </a:buClr>
            </a:pPr>
            <a:endParaRPr lang="en-GB" sz="1333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282" name="Google Shape;282;p26"/>
          <p:cNvCxnSpPr>
            <a:cxnSpLocks/>
          </p:cNvCxnSpPr>
          <p:nvPr/>
        </p:nvCxnSpPr>
        <p:spPr>
          <a:xfrm>
            <a:off x="11024700" y="858982"/>
            <a:ext cx="0" cy="925125"/>
          </a:xfrm>
          <a:prstGeom prst="straightConnector1">
            <a:avLst/>
          </a:prstGeom>
          <a:noFill/>
          <a:ln w="9525" cap="flat" cmpd="sng">
            <a:solidFill>
              <a:srgbClr val="1D1D1D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58EE1B3C-AE38-487D-8272-388436D58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90" y="196680"/>
            <a:ext cx="3114485" cy="586915"/>
          </a:xfrm>
          <a:prstGeom prst="rect">
            <a:avLst/>
          </a:prstGeom>
        </p:spPr>
      </p:pic>
      <p:sp>
        <p:nvSpPr>
          <p:cNvPr id="31" name="Google Shape;278;p26">
            <a:extLst>
              <a:ext uri="{FF2B5EF4-FFF2-40B4-BE49-F238E27FC236}">
                <a16:creationId xmlns:a16="http://schemas.microsoft.com/office/drawing/2014/main" id="{11A58D01-9566-4AC9-8D72-E556A8C6A8E2}"/>
              </a:ext>
            </a:extLst>
          </p:cNvPr>
          <p:cNvSpPr txBox="1"/>
          <p:nvPr/>
        </p:nvSpPr>
        <p:spPr>
          <a:xfrm>
            <a:off x="9981900" y="252137"/>
            <a:ext cx="208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600" b="1" kern="0">
                <a:solidFill>
                  <a:srgbClr val="1D1D1D"/>
                </a:solidFill>
                <a:latin typeface="Calibri" panose="020F0502020204030204" pitchFamily="34" charset="0"/>
                <a:ea typeface="Montserrat"/>
                <a:cs typeface="Calibri" panose="020F0502020204030204" pitchFamily="34" charset="0"/>
                <a:sym typeface="Montserrat"/>
              </a:rPr>
              <a:t>DIRECT DYNAMIC CONTRACT</a:t>
            </a:r>
            <a:endParaRPr sz="1600" b="1" kern="0">
              <a:solidFill>
                <a:srgbClr val="1D1D1D"/>
              </a:solidFill>
              <a:latin typeface="Calibri" panose="020F0502020204030204" pitchFamily="34" charset="0"/>
              <a:ea typeface="Montserrat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7B78AA-57C4-2D1F-6BDF-29377CF8AA8E}"/>
              </a:ext>
            </a:extLst>
          </p:cNvPr>
          <p:cNvSpPr txBox="1"/>
          <p:nvPr/>
        </p:nvSpPr>
        <p:spPr>
          <a:xfrm>
            <a:off x="690182" y="3577288"/>
            <a:ext cx="3287929" cy="2893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 dirty="0">
                <a:latin typeface="Calibri"/>
                <a:ea typeface="Calibri"/>
                <a:cs typeface="Calibri"/>
              </a:rPr>
              <a:t>Point of contact</a:t>
            </a:r>
            <a:r>
              <a:rPr lang="en-US" sz="1400" dirty="0">
                <a:latin typeface="Calibri"/>
                <a:ea typeface="Calibri"/>
                <a:cs typeface="Calibri"/>
              </a:rPr>
              <a:t>:</a:t>
            </a:r>
          </a:p>
          <a:p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b="1" dirty="0">
                <a:latin typeface="Calibri"/>
                <a:ea typeface="Calibri"/>
                <a:cs typeface="Calibri"/>
              </a:rPr>
              <a:t>Chains &amp; Direct Contracts:</a:t>
            </a:r>
          </a:p>
          <a:p>
            <a:r>
              <a:rPr lang="en-US" sz="1400" dirty="0">
                <a:latin typeface="Calibri"/>
                <a:ea typeface="Calibri"/>
                <a:cs typeface="Calibri"/>
              </a:rPr>
              <a:t>Commercial:</a:t>
            </a:r>
          </a:p>
          <a:p>
            <a:r>
              <a:rPr lang="en-US" sz="1400" dirty="0">
                <a:latin typeface="Calibri"/>
                <a:ea typeface="Calibri"/>
                <a:cs typeface="Calibri"/>
              </a:rPr>
              <a:t>Nelly </a:t>
            </a:r>
            <a:r>
              <a:rPr lang="en-US" sz="1400" dirty="0" err="1">
                <a:latin typeface="Calibri"/>
                <a:ea typeface="Calibri"/>
                <a:cs typeface="Calibri"/>
              </a:rPr>
              <a:t>Gospodinova</a:t>
            </a:r>
            <a:r>
              <a:rPr lang="en-US" sz="1400" dirty="0"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ea typeface="Calibri"/>
                <a:cs typeface="Calibri"/>
              </a:rPr>
              <a:t>Dobcheva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endParaRPr lang="en-US" sz="1400" dirty="0">
              <a:latin typeface="Calibri"/>
              <a:ea typeface="Calibri"/>
              <a:cs typeface="Calibri"/>
            </a:endParaRPr>
          </a:p>
          <a:p>
            <a:r>
              <a:rPr lang="en-US" sz="1400" dirty="0">
                <a:latin typeface="Calibri"/>
                <a:ea typeface="Calibri"/>
                <a:cs typeface="Calibri"/>
              </a:rPr>
              <a:t>Connectivity &amp; Optimization </a:t>
            </a:r>
            <a:r>
              <a:rPr lang="en-AU" sz="1400" dirty="0">
                <a:latin typeface="Calibri"/>
                <a:ea typeface="Calibri"/>
                <a:cs typeface="Calibri"/>
              </a:rPr>
              <a:t>queries</a:t>
            </a:r>
            <a:r>
              <a:rPr lang="en-US" sz="1400" dirty="0">
                <a:latin typeface="Calibri"/>
                <a:ea typeface="Calibri"/>
                <a:cs typeface="Calibri"/>
              </a:rPr>
              <a:t>:</a:t>
            </a:r>
            <a:endParaRPr lang="en-US" dirty="0"/>
          </a:p>
          <a:p>
            <a:r>
              <a:rPr lang="en-US" sz="1400" dirty="0">
                <a:latin typeface="Calibri"/>
                <a:ea typeface="Calibri"/>
                <a:cs typeface="Calibri"/>
              </a:rPr>
              <a:t>Mohamed Abd El Tawab</a:t>
            </a:r>
          </a:p>
          <a:p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latin typeface="Calibri"/>
              <a:ea typeface="Calibri"/>
              <a:cs typeface="Calibri"/>
            </a:endParaRPr>
          </a:p>
          <a:p>
            <a:r>
              <a:rPr lang="en-US" sz="1400" b="1" dirty="0">
                <a:latin typeface="Calibri"/>
                <a:ea typeface="Calibri"/>
                <a:cs typeface="Calibri"/>
              </a:rPr>
              <a:t>3</a:t>
            </a:r>
            <a:r>
              <a:rPr lang="en-US" sz="1400" b="1" baseline="30000" dirty="0">
                <a:latin typeface="Calibri"/>
                <a:ea typeface="Calibri"/>
                <a:cs typeface="Calibri"/>
              </a:rPr>
              <a:t>rd</a:t>
            </a:r>
            <a:r>
              <a:rPr lang="en-US" sz="1400" b="1" dirty="0">
                <a:latin typeface="Calibri"/>
                <a:ea typeface="Calibri"/>
                <a:cs typeface="Calibri"/>
              </a:rPr>
              <a:t> party suppliers: </a:t>
            </a:r>
          </a:p>
          <a:p>
            <a:r>
              <a:rPr lang="en-US" sz="1400" dirty="0">
                <a:latin typeface="Calibri"/>
                <a:ea typeface="Calibri"/>
                <a:cs typeface="Calibri"/>
              </a:rPr>
              <a:t>Charles Razo</a:t>
            </a:r>
          </a:p>
          <a:p>
            <a:r>
              <a:rPr lang="en-US" sz="1400" dirty="0">
                <a:latin typeface="Calibri"/>
                <a:ea typeface="Calibri"/>
                <a:cs typeface="Calibri"/>
              </a:rPr>
              <a:t>Ahmed </a:t>
            </a:r>
            <a:r>
              <a:rPr lang="en-US" sz="1400" dirty="0" err="1">
                <a:latin typeface="Calibri"/>
                <a:ea typeface="Calibri"/>
                <a:cs typeface="Calibri"/>
              </a:rPr>
              <a:t>Shokr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Google Shape;279;p26">
            <a:extLst>
              <a:ext uri="{FF2B5EF4-FFF2-40B4-BE49-F238E27FC236}">
                <a16:creationId xmlns:a16="http://schemas.microsoft.com/office/drawing/2014/main" id="{19C3D455-018B-1819-94E0-1674DC329D94}"/>
              </a:ext>
            </a:extLst>
          </p:cNvPr>
          <p:cNvSpPr txBox="1"/>
          <p:nvPr/>
        </p:nvSpPr>
        <p:spPr>
          <a:xfrm>
            <a:off x="9981900" y="1784107"/>
            <a:ext cx="22384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 fontAlgn="b">
              <a:buClr>
                <a:srgbClr val="000000"/>
              </a:buClr>
            </a:pPr>
            <a:r>
              <a:rPr lang="en-US" sz="1333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</a:t>
            </a:r>
            <a:r>
              <a:rPr lang="en-GB" sz="1333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ynxis</a:t>
            </a:r>
            <a:r>
              <a:rPr lang="en-GB" sz="1333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-independent hotels</a:t>
            </a:r>
          </a:p>
        </p:txBody>
      </p:sp>
    </p:spTree>
    <p:extLst>
      <p:ext uri="{BB962C8B-B14F-4D97-AF65-F5344CB8AC3E}">
        <p14:creationId xmlns:p14="http://schemas.microsoft.com/office/powerpoint/2010/main" val="3974006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d09eec-0aea-4175-ba87-cd0ef17ef1d8">
      <UserInfo>
        <DisplayName>Tomeu Ferrer</DisplayName>
        <AccountId>197</AccountId>
        <AccountType/>
      </UserInfo>
    </SharedWithUsers>
    <_activity xmlns="ba5e1baa-c806-4178-b3c8-04034e747f1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B9C48CF0883A41866C2CDDAC4C6B24" ma:contentTypeVersion="18" ma:contentTypeDescription="Create a new document." ma:contentTypeScope="" ma:versionID="63c5cdc0993b5e110712d2cfcaecf9c2">
  <xsd:schema xmlns:xsd="http://www.w3.org/2001/XMLSchema" xmlns:xs="http://www.w3.org/2001/XMLSchema" xmlns:p="http://schemas.microsoft.com/office/2006/metadata/properties" xmlns:ns3="ba5e1baa-c806-4178-b3c8-04034e747f11" xmlns:ns4="7bd09eec-0aea-4175-ba87-cd0ef17ef1d8" targetNamespace="http://schemas.microsoft.com/office/2006/metadata/properties" ma:root="true" ma:fieldsID="1d599a656915d0082586607c91ef7702" ns3:_="" ns4:_="">
    <xsd:import namespace="ba5e1baa-c806-4178-b3c8-04034e747f11"/>
    <xsd:import namespace="7bd09eec-0aea-4175-ba87-cd0ef17ef1d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5e1baa-c806-4178-b3c8-04034e747f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d09eec-0aea-4175-ba87-cd0ef17ef1d8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E2DBCF-6892-4F8B-906C-D96E99B0BE5E}">
  <ds:schemaRefs>
    <ds:schemaRef ds:uri="7bd09eec-0aea-4175-ba87-cd0ef17ef1d8"/>
    <ds:schemaRef ds:uri="ba5e1baa-c806-4178-b3c8-04034e747f1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12D45E5-A86D-4CB0-B166-9F9528E2B2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66CB35-1DB3-4887-9139-AA8D5AAE8DAE}">
  <ds:schemaRefs>
    <ds:schemaRef ds:uri="7bd09eec-0aea-4175-ba87-cd0ef17ef1d8"/>
    <ds:schemaRef ds:uri="ba5e1baa-c806-4178-b3c8-04034e747f1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5de0e68c-0afd-4a67-b089-31f168aa4ca0}" enabled="0" method="" siteId="{5de0e68c-0afd-4a67-b089-31f168aa4ca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968</Words>
  <Application>Microsoft Office PowerPoint</Application>
  <PresentationFormat>Widescreen</PresentationFormat>
  <Paragraphs>225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Montserrat</vt:lpstr>
      <vt:lpstr>Montserrat Medium</vt:lpstr>
      <vt:lpstr>Office Theme</vt:lpstr>
      <vt:lpstr>Custom Design</vt:lpstr>
      <vt:lpstr>1_Custom Design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Lluc Quetglas</dc:creator>
  <cp:lastModifiedBy>Ahmed Nagy</cp:lastModifiedBy>
  <cp:revision>15</cp:revision>
  <dcterms:created xsi:type="dcterms:W3CDTF">2018-07-09T08:41:51Z</dcterms:created>
  <dcterms:modified xsi:type="dcterms:W3CDTF">2026-01-17T23:07:43Z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0x01010055B9C48CF0883A41866C2CDDAC4C6B24</vt:lpwstr>
  </property>
  <property fmtid="{D5CDD505-2E9C-101B-9397-08002B2CF9AE}" pid="3" name="MediaServiceImageTags">
    <vt:lpwstr/>
  </property>
</Properties>
</file>